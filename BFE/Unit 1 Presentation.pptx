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314" r:id="rId2"/>
    <p:sldId id="337" r:id="rId3"/>
    <p:sldId id="315" r:id="rId4"/>
    <p:sldId id="317" r:id="rId5"/>
    <p:sldId id="330" r:id="rId6"/>
    <p:sldId id="336" r:id="rId7"/>
    <p:sldId id="316" r:id="rId8"/>
    <p:sldId id="318" r:id="rId9"/>
    <p:sldId id="319" r:id="rId10"/>
    <p:sldId id="320" r:id="rId11"/>
    <p:sldId id="329" r:id="rId12"/>
    <p:sldId id="321" r:id="rId13"/>
    <p:sldId id="325" r:id="rId14"/>
    <p:sldId id="331" r:id="rId15"/>
    <p:sldId id="332" r:id="rId16"/>
    <p:sldId id="333" r:id="rId17"/>
    <p:sldId id="334" r:id="rId18"/>
    <p:sldId id="335" r:id="rId19"/>
    <p:sldId id="326" r:id="rId20"/>
    <p:sldId id="327" r:id="rId21"/>
    <p:sldId id="328" r:id="rId22"/>
    <p:sldId id="323" r:id="rId23"/>
    <p:sldId id="324" r:id="rId24"/>
    <p:sldId id="322" r:id="rId25"/>
    <p:sldId id="338" r:id="rId26"/>
    <p:sldId id="276" r:id="rId27"/>
    <p:sldId id="277" r:id="rId28"/>
    <p:sldId id="278" r:id="rId29"/>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000000"/>
    <a:srgbClr val="0000FF"/>
    <a:srgbClr val="000066"/>
    <a:srgbClr val="FB9703"/>
    <a:srgbClr val="66FF33"/>
    <a:srgbClr val="FF0000"/>
    <a:srgbClr val="CC0099"/>
    <a:srgbClr val="FF9900"/>
    <a:srgbClr val="ED27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0C7068-955C-456E-B4EB-EA90E0400E86}" v="58" dt="2025-01-27T12:45:53.8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hna Warfade" userId="1bce5f9b04da9ca8" providerId="LiveId" clId="{F80C7068-955C-456E-B4EB-EA90E0400E86}"/>
    <pc:docChg chg="undo redo custSel modSld">
      <pc:chgData name="Krishna Warfade" userId="1bce5f9b04da9ca8" providerId="LiveId" clId="{F80C7068-955C-456E-B4EB-EA90E0400E86}" dt="2025-01-27T12:46:40.330" v="409" actId="20577"/>
      <pc:docMkLst>
        <pc:docMk/>
      </pc:docMkLst>
      <pc:sldChg chg="modSp">
        <pc:chgData name="Krishna Warfade" userId="1bce5f9b04da9ca8" providerId="LiveId" clId="{F80C7068-955C-456E-B4EB-EA90E0400E86}" dt="2025-01-27T12:45:33.719" v="389" actId="1076"/>
        <pc:sldMkLst>
          <pc:docMk/>
          <pc:sldMk cId="0" sldId="276"/>
        </pc:sldMkLst>
        <pc:spChg chg="mod">
          <ac:chgData name="Krishna Warfade" userId="1bce5f9b04da9ca8" providerId="LiveId" clId="{F80C7068-955C-456E-B4EB-EA90E0400E86}" dt="2025-01-27T12:45:30.315" v="388" actId="1076"/>
          <ac:spMkLst>
            <pc:docMk/>
            <pc:sldMk cId="0" sldId="276"/>
            <ac:spMk id="4098" creationId="{AAED2943-0001-6BBD-6065-5433246DD4D5}"/>
          </ac:spMkLst>
        </pc:spChg>
        <pc:spChg chg="mod">
          <ac:chgData name="Krishna Warfade" userId="1bce5f9b04da9ca8" providerId="LiveId" clId="{F80C7068-955C-456E-B4EB-EA90E0400E86}" dt="2025-01-27T12:45:33.719" v="389" actId="1076"/>
          <ac:spMkLst>
            <pc:docMk/>
            <pc:sldMk cId="0" sldId="276"/>
            <ac:spMk id="4099" creationId="{22E764BF-20EA-DDE8-4708-24750E52CC9F}"/>
          </ac:spMkLst>
        </pc:spChg>
      </pc:sldChg>
      <pc:sldChg chg="modSp mod">
        <pc:chgData name="Krishna Warfade" userId="1bce5f9b04da9ca8" providerId="LiveId" clId="{F80C7068-955C-456E-B4EB-EA90E0400E86}" dt="2025-01-27T12:46:40.330" v="409" actId="20577"/>
        <pc:sldMkLst>
          <pc:docMk/>
          <pc:sldMk cId="0" sldId="277"/>
        </pc:sldMkLst>
        <pc:spChg chg="mod">
          <ac:chgData name="Krishna Warfade" userId="1bce5f9b04da9ca8" providerId="LiveId" clId="{F80C7068-955C-456E-B4EB-EA90E0400E86}" dt="2025-01-27T12:46:40.330" v="409" actId="20577"/>
          <ac:spMkLst>
            <pc:docMk/>
            <pc:sldMk cId="0" sldId="277"/>
            <ac:spMk id="6146" creationId="{E9C2F784-3C18-11AD-604C-724A193897FB}"/>
          </ac:spMkLst>
        </pc:spChg>
        <pc:spChg chg="mod">
          <ac:chgData name="Krishna Warfade" userId="1bce5f9b04da9ca8" providerId="LiveId" clId="{F80C7068-955C-456E-B4EB-EA90E0400E86}" dt="2025-01-27T12:45:53.815" v="393" actId="1076"/>
          <ac:spMkLst>
            <pc:docMk/>
            <pc:sldMk cId="0" sldId="277"/>
            <ac:spMk id="6147" creationId="{5C2DB0EF-D9D2-7CDB-943B-F0FCADA77E08}"/>
          </ac:spMkLst>
        </pc:spChg>
      </pc:sldChg>
      <pc:sldChg chg="modSp mod">
        <pc:chgData name="Krishna Warfade" userId="1bce5f9b04da9ca8" providerId="LiveId" clId="{F80C7068-955C-456E-B4EB-EA90E0400E86}" dt="2025-01-23T05:47:38.860" v="383" actId="1076"/>
        <pc:sldMkLst>
          <pc:docMk/>
          <pc:sldMk cId="0" sldId="278"/>
        </pc:sldMkLst>
        <pc:spChg chg="mod">
          <ac:chgData name="Krishna Warfade" userId="1bce5f9b04da9ca8" providerId="LiveId" clId="{F80C7068-955C-456E-B4EB-EA90E0400E86}" dt="2025-01-23T05:47:38.860" v="383" actId="1076"/>
          <ac:spMkLst>
            <pc:docMk/>
            <pc:sldMk cId="0" sldId="278"/>
            <ac:spMk id="7170" creationId="{93DB3026-0C2B-7C72-7BB6-1AAA36F670E3}"/>
          </ac:spMkLst>
        </pc:spChg>
      </pc:sldChg>
      <pc:sldChg chg="modSp">
        <pc:chgData name="Krishna Warfade" userId="1bce5f9b04da9ca8" providerId="LiveId" clId="{F80C7068-955C-456E-B4EB-EA90E0400E86}" dt="2025-01-23T02:00:38.600" v="24" actId="14100"/>
        <pc:sldMkLst>
          <pc:docMk/>
          <pc:sldMk cId="4143884622" sldId="316"/>
        </pc:sldMkLst>
        <pc:picChg chg="mod">
          <ac:chgData name="Krishna Warfade" userId="1bce5f9b04da9ca8" providerId="LiveId" clId="{F80C7068-955C-456E-B4EB-EA90E0400E86}" dt="2025-01-23T02:00:38.600" v="24" actId="14100"/>
          <ac:picMkLst>
            <pc:docMk/>
            <pc:sldMk cId="4143884622" sldId="316"/>
            <ac:picMk id="7170" creationId="{42274203-5793-49B2-B4F9-7A6EC33FBCF4}"/>
          </ac:picMkLst>
        </pc:picChg>
      </pc:sldChg>
      <pc:sldChg chg="modSp">
        <pc:chgData name="Krishna Warfade" userId="1bce5f9b04da9ca8" providerId="LiveId" clId="{F80C7068-955C-456E-B4EB-EA90E0400E86}" dt="2025-01-23T03:43:38.853" v="60" actId="1076"/>
        <pc:sldMkLst>
          <pc:docMk/>
          <pc:sldMk cId="3095215082" sldId="318"/>
        </pc:sldMkLst>
        <pc:picChg chg="mod">
          <ac:chgData name="Krishna Warfade" userId="1bce5f9b04da9ca8" providerId="LiveId" clId="{F80C7068-955C-456E-B4EB-EA90E0400E86}" dt="2025-01-23T03:43:25.826" v="58" actId="14100"/>
          <ac:picMkLst>
            <pc:docMk/>
            <pc:sldMk cId="3095215082" sldId="318"/>
            <ac:picMk id="5122" creationId="{D2A16D50-73B9-D99F-6485-01D7F44B4A37}"/>
          </ac:picMkLst>
        </pc:picChg>
        <pc:picChg chg="mod">
          <ac:chgData name="Krishna Warfade" userId="1bce5f9b04da9ca8" providerId="LiveId" clId="{F80C7068-955C-456E-B4EB-EA90E0400E86}" dt="2025-01-23T03:43:38.853" v="60" actId="1076"/>
          <ac:picMkLst>
            <pc:docMk/>
            <pc:sldMk cId="3095215082" sldId="318"/>
            <ac:picMk id="5124" creationId="{F2259AFE-C788-5C51-985A-5F73AFA212EB}"/>
          </ac:picMkLst>
        </pc:picChg>
      </pc:sldChg>
      <pc:sldChg chg="modSp mod">
        <pc:chgData name="Krishna Warfade" userId="1bce5f9b04da9ca8" providerId="LiveId" clId="{F80C7068-955C-456E-B4EB-EA90E0400E86}" dt="2025-01-23T05:47:54.728" v="384" actId="1076"/>
        <pc:sldMkLst>
          <pc:docMk/>
          <pc:sldMk cId="4019747321" sldId="322"/>
        </pc:sldMkLst>
        <pc:spChg chg="mod">
          <ac:chgData name="Krishna Warfade" userId="1bce5f9b04da9ca8" providerId="LiveId" clId="{F80C7068-955C-456E-B4EB-EA90E0400E86}" dt="2025-01-23T05:47:54.728" v="384" actId="1076"/>
          <ac:spMkLst>
            <pc:docMk/>
            <pc:sldMk cId="4019747321" sldId="322"/>
            <ac:spMk id="2" creationId="{A114059F-4A95-3132-D287-624397BE9B86}"/>
          </ac:spMkLst>
        </pc:spChg>
      </pc:sldChg>
      <pc:sldChg chg="modSp mod">
        <pc:chgData name="Krishna Warfade" userId="1bce5f9b04da9ca8" providerId="LiveId" clId="{F80C7068-955C-456E-B4EB-EA90E0400E86}" dt="2025-01-23T05:11:15.323" v="365" actId="1076"/>
        <pc:sldMkLst>
          <pc:docMk/>
          <pc:sldMk cId="2416834519" sldId="323"/>
        </pc:sldMkLst>
        <pc:spChg chg="mod">
          <ac:chgData name="Krishna Warfade" userId="1bce5f9b04da9ca8" providerId="LiveId" clId="{F80C7068-955C-456E-B4EB-EA90E0400E86}" dt="2025-01-23T05:10:10.307" v="345" actId="1076"/>
          <ac:spMkLst>
            <pc:docMk/>
            <pc:sldMk cId="2416834519" sldId="323"/>
            <ac:spMk id="2" creationId="{35D22DB1-43A4-0D3E-70DE-EDE5E8CD9725}"/>
          </ac:spMkLst>
        </pc:spChg>
        <pc:spChg chg="mod">
          <ac:chgData name="Krishna Warfade" userId="1bce5f9b04da9ca8" providerId="LiveId" clId="{F80C7068-955C-456E-B4EB-EA90E0400E86}" dt="2025-01-23T05:11:15.323" v="365" actId="1076"/>
          <ac:spMkLst>
            <pc:docMk/>
            <pc:sldMk cId="2416834519" sldId="323"/>
            <ac:spMk id="6" creationId="{D8AFA5AC-AA47-FAEB-2AEF-EB13C031404A}"/>
          </ac:spMkLst>
        </pc:spChg>
        <pc:picChg chg="mod">
          <ac:chgData name="Krishna Warfade" userId="1bce5f9b04da9ca8" providerId="LiveId" clId="{F80C7068-955C-456E-B4EB-EA90E0400E86}" dt="2025-01-23T05:10:14.418" v="346" actId="1076"/>
          <ac:picMkLst>
            <pc:docMk/>
            <pc:sldMk cId="2416834519" sldId="323"/>
            <ac:picMk id="7" creationId="{9D94E0D8-8429-D902-CB76-37E0E62C0BA8}"/>
          </ac:picMkLst>
        </pc:picChg>
      </pc:sldChg>
      <pc:sldChg chg="modSp mod">
        <pc:chgData name="Krishna Warfade" userId="1bce5f9b04da9ca8" providerId="LiveId" clId="{F80C7068-955C-456E-B4EB-EA90E0400E86}" dt="2025-01-23T04:37:22.007" v="120" actId="14100"/>
        <pc:sldMkLst>
          <pc:docMk/>
          <pc:sldMk cId="407941380" sldId="325"/>
        </pc:sldMkLst>
        <pc:spChg chg="mod">
          <ac:chgData name="Krishna Warfade" userId="1bce5f9b04da9ca8" providerId="LiveId" clId="{F80C7068-955C-456E-B4EB-EA90E0400E86}" dt="2025-01-23T04:36:43.732" v="102" actId="114"/>
          <ac:spMkLst>
            <pc:docMk/>
            <pc:sldMk cId="407941380" sldId="325"/>
            <ac:spMk id="3" creationId="{4232607D-2A0F-308D-703E-4CBDB65D341F}"/>
          </ac:spMkLst>
        </pc:spChg>
        <pc:picChg chg="mod">
          <ac:chgData name="Krishna Warfade" userId="1bce5f9b04da9ca8" providerId="LiveId" clId="{F80C7068-955C-456E-B4EB-EA90E0400E86}" dt="2025-01-23T04:37:22.007" v="120" actId="14100"/>
          <ac:picMkLst>
            <pc:docMk/>
            <pc:sldMk cId="407941380" sldId="325"/>
            <ac:picMk id="4100" creationId="{6CDBB046-04A0-CEB0-5F8D-6FF2215D563B}"/>
          </ac:picMkLst>
        </pc:picChg>
      </pc:sldChg>
      <pc:sldChg chg="modSp">
        <pc:chgData name="Krishna Warfade" userId="1bce5f9b04da9ca8" providerId="LiveId" clId="{F80C7068-955C-456E-B4EB-EA90E0400E86}" dt="2025-01-23T05:01:47.690" v="252" actId="1076"/>
        <pc:sldMkLst>
          <pc:docMk/>
          <pc:sldMk cId="4120974809" sldId="327"/>
        </pc:sldMkLst>
        <pc:picChg chg="mod">
          <ac:chgData name="Krishna Warfade" userId="1bce5f9b04da9ca8" providerId="LiveId" clId="{F80C7068-955C-456E-B4EB-EA90E0400E86}" dt="2025-01-23T05:01:30.037" v="249" actId="14100"/>
          <ac:picMkLst>
            <pc:docMk/>
            <pc:sldMk cId="4120974809" sldId="327"/>
            <ac:picMk id="2050" creationId="{0A4AEEC4-4A62-BDD5-EAC6-3B8EC9BEF208}"/>
          </ac:picMkLst>
        </pc:picChg>
        <pc:picChg chg="mod">
          <ac:chgData name="Krishna Warfade" userId="1bce5f9b04da9ca8" providerId="LiveId" clId="{F80C7068-955C-456E-B4EB-EA90E0400E86}" dt="2025-01-23T05:01:47.690" v="252" actId="1076"/>
          <ac:picMkLst>
            <pc:docMk/>
            <pc:sldMk cId="4120974809" sldId="327"/>
            <ac:picMk id="2052" creationId="{29C5316C-6DF8-DEE3-DB6E-92169C45A36C}"/>
          </ac:picMkLst>
        </pc:picChg>
      </pc:sldChg>
      <pc:sldChg chg="addSp modSp mod">
        <pc:chgData name="Krishna Warfade" userId="1bce5f9b04da9ca8" providerId="LiveId" clId="{F80C7068-955C-456E-B4EB-EA90E0400E86}" dt="2025-01-23T03:39:58.309" v="55" actId="20577"/>
        <pc:sldMkLst>
          <pc:docMk/>
          <pc:sldMk cId="1787536964" sldId="329"/>
        </pc:sldMkLst>
        <pc:spChg chg="add mod">
          <ac:chgData name="Krishna Warfade" userId="1bce5f9b04da9ca8" providerId="LiveId" clId="{F80C7068-955C-456E-B4EB-EA90E0400E86}" dt="2025-01-23T03:39:58.309" v="55" actId="20577"/>
          <ac:spMkLst>
            <pc:docMk/>
            <pc:sldMk cId="1787536964" sldId="329"/>
            <ac:spMk id="2" creationId="{0544EC52-C563-CC97-B8C3-382811C60454}"/>
          </ac:spMkLst>
        </pc:spChg>
        <pc:picChg chg="mod">
          <ac:chgData name="Krishna Warfade" userId="1bce5f9b04da9ca8" providerId="LiveId" clId="{F80C7068-955C-456E-B4EB-EA90E0400E86}" dt="2025-01-23T03:38:41.947" v="28" actId="1076"/>
          <ac:picMkLst>
            <pc:docMk/>
            <pc:sldMk cId="1787536964" sldId="329"/>
            <ac:picMk id="6148" creationId="{4397184F-8385-FFEF-8AE5-5D57B258D16B}"/>
          </ac:picMkLst>
        </pc:picChg>
      </pc:sldChg>
      <pc:sldChg chg="modSp mod">
        <pc:chgData name="Krishna Warfade" userId="1bce5f9b04da9ca8" providerId="LiveId" clId="{F80C7068-955C-456E-B4EB-EA90E0400E86}" dt="2025-01-23T01:25:50.280" v="3" actId="13926"/>
        <pc:sldMkLst>
          <pc:docMk/>
          <pc:sldMk cId="3063981954" sldId="330"/>
        </pc:sldMkLst>
        <pc:spChg chg="mod">
          <ac:chgData name="Krishna Warfade" userId="1bce5f9b04da9ca8" providerId="LiveId" clId="{F80C7068-955C-456E-B4EB-EA90E0400E86}" dt="2025-01-23T01:25:50.280" v="3" actId="13926"/>
          <ac:spMkLst>
            <pc:docMk/>
            <pc:sldMk cId="3063981954" sldId="330"/>
            <ac:spMk id="3" creationId="{CC068BF2-B9D6-D7C6-5278-FF523A179511}"/>
          </ac:spMkLst>
        </pc:spChg>
      </pc:sldChg>
      <pc:sldChg chg="modSp mod">
        <pc:chgData name="Krishna Warfade" userId="1bce5f9b04da9ca8" providerId="LiveId" clId="{F80C7068-955C-456E-B4EB-EA90E0400E86}" dt="2025-01-23T04:40:35.408" v="157" actId="20577"/>
        <pc:sldMkLst>
          <pc:docMk/>
          <pc:sldMk cId="1955750081" sldId="331"/>
        </pc:sldMkLst>
        <pc:spChg chg="mod">
          <ac:chgData name="Krishna Warfade" userId="1bce5f9b04da9ca8" providerId="LiveId" clId="{F80C7068-955C-456E-B4EB-EA90E0400E86}" dt="2025-01-23T04:40:35.408" v="157" actId="20577"/>
          <ac:spMkLst>
            <pc:docMk/>
            <pc:sldMk cId="1955750081" sldId="331"/>
            <ac:spMk id="3" creationId="{4EEA502B-ABDC-FF95-2682-441C9034F5A8}"/>
          </ac:spMkLst>
        </pc:spChg>
      </pc:sldChg>
      <pc:sldChg chg="modSp mod">
        <pc:chgData name="Krishna Warfade" userId="1bce5f9b04da9ca8" providerId="LiveId" clId="{F80C7068-955C-456E-B4EB-EA90E0400E86}" dt="2025-01-23T04:46:27.942" v="174" actId="1076"/>
        <pc:sldMkLst>
          <pc:docMk/>
          <pc:sldMk cId="4060107694" sldId="332"/>
        </pc:sldMkLst>
        <pc:spChg chg="mod">
          <ac:chgData name="Krishna Warfade" userId="1bce5f9b04da9ca8" providerId="LiveId" clId="{F80C7068-955C-456E-B4EB-EA90E0400E86}" dt="2025-01-23T04:46:27.942" v="174" actId="1076"/>
          <ac:spMkLst>
            <pc:docMk/>
            <pc:sldMk cId="4060107694" sldId="332"/>
            <ac:spMk id="3" creationId="{48B9E7A7-D8FA-30AD-69AE-E7F2CA6244C8}"/>
          </ac:spMkLst>
        </pc:spChg>
      </pc:sldChg>
      <pc:sldChg chg="modSp mod">
        <pc:chgData name="Krishna Warfade" userId="1bce5f9b04da9ca8" providerId="LiveId" clId="{F80C7068-955C-456E-B4EB-EA90E0400E86}" dt="2025-01-23T04:50:16.274" v="197" actId="14100"/>
        <pc:sldMkLst>
          <pc:docMk/>
          <pc:sldMk cId="3640887197" sldId="333"/>
        </pc:sldMkLst>
        <pc:spChg chg="mod">
          <ac:chgData name="Krishna Warfade" userId="1bce5f9b04da9ca8" providerId="LiveId" clId="{F80C7068-955C-456E-B4EB-EA90E0400E86}" dt="2025-01-23T04:50:16.274" v="197" actId="14100"/>
          <ac:spMkLst>
            <pc:docMk/>
            <pc:sldMk cId="3640887197" sldId="333"/>
            <ac:spMk id="3" creationId="{92FB2DEF-804B-8AB5-36E4-66360C55A950}"/>
          </ac:spMkLst>
        </pc:spChg>
        <pc:picChg chg="mod">
          <ac:chgData name="Krishna Warfade" userId="1bce5f9b04da9ca8" providerId="LiveId" clId="{F80C7068-955C-456E-B4EB-EA90E0400E86}" dt="2025-01-23T04:49:48.159" v="193" actId="14100"/>
          <ac:picMkLst>
            <pc:docMk/>
            <pc:sldMk cId="3640887197" sldId="333"/>
            <ac:picMk id="6146" creationId="{E055BA34-415D-0668-1D0B-CDE3B3DF26C8}"/>
          </ac:picMkLst>
        </pc:picChg>
      </pc:sldChg>
      <pc:sldChg chg="modSp mod">
        <pc:chgData name="Krishna Warfade" userId="1bce5f9b04da9ca8" providerId="LiveId" clId="{F80C7068-955C-456E-B4EB-EA90E0400E86}" dt="2025-01-23T04:58:26.352" v="222" actId="20577"/>
        <pc:sldMkLst>
          <pc:docMk/>
          <pc:sldMk cId="2023558118" sldId="334"/>
        </pc:sldMkLst>
        <pc:spChg chg="mod">
          <ac:chgData name="Krishna Warfade" userId="1bce5f9b04da9ca8" providerId="LiveId" clId="{F80C7068-955C-456E-B4EB-EA90E0400E86}" dt="2025-01-23T04:58:26.352" v="222" actId="20577"/>
          <ac:spMkLst>
            <pc:docMk/>
            <pc:sldMk cId="2023558118" sldId="334"/>
            <ac:spMk id="3" creationId="{E9B5D908-273E-C3F7-8EBF-3DE33616DCBB}"/>
          </ac:spMkLst>
        </pc:spChg>
      </pc:sldChg>
      <pc:sldChg chg="modSp mod">
        <pc:chgData name="Krishna Warfade" userId="1bce5f9b04da9ca8" providerId="LiveId" clId="{F80C7068-955C-456E-B4EB-EA90E0400E86}" dt="2025-01-23T05:00:17.198" v="248" actId="20577"/>
        <pc:sldMkLst>
          <pc:docMk/>
          <pc:sldMk cId="4004697005" sldId="335"/>
        </pc:sldMkLst>
        <pc:spChg chg="mod">
          <ac:chgData name="Krishna Warfade" userId="1bce5f9b04da9ca8" providerId="LiveId" clId="{F80C7068-955C-456E-B4EB-EA90E0400E86}" dt="2025-01-23T05:00:17.198" v="248" actId="20577"/>
          <ac:spMkLst>
            <pc:docMk/>
            <pc:sldMk cId="4004697005" sldId="335"/>
            <ac:spMk id="3" creationId="{E377689A-DDFD-C028-9700-9EEC37E4DB27}"/>
          </ac:spMkLst>
        </pc:spChg>
        <pc:picChg chg="mod">
          <ac:chgData name="Krishna Warfade" userId="1bce5f9b04da9ca8" providerId="LiveId" clId="{F80C7068-955C-456E-B4EB-EA90E0400E86}" dt="2025-01-23T04:58:50.519" v="228" actId="1076"/>
          <ac:picMkLst>
            <pc:docMk/>
            <pc:sldMk cId="4004697005" sldId="335"/>
            <ac:picMk id="5122" creationId="{65637135-392E-71EE-DAAF-569C540EFA92}"/>
          </ac:picMkLst>
        </pc:picChg>
      </pc:sldChg>
      <pc:sldChg chg="modSp mod">
        <pc:chgData name="Krishna Warfade" userId="1bce5f9b04da9ca8" providerId="LiveId" clId="{F80C7068-955C-456E-B4EB-EA90E0400E86}" dt="2025-01-23T01:31:19.409" v="11" actId="207"/>
        <pc:sldMkLst>
          <pc:docMk/>
          <pc:sldMk cId="3026625994" sldId="336"/>
        </pc:sldMkLst>
        <pc:graphicFrameChg chg="mod modGraphic">
          <ac:chgData name="Krishna Warfade" userId="1bce5f9b04da9ca8" providerId="LiveId" clId="{F80C7068-955C-456E-B4EB-EA90E0400E86}" dt="2025-01-23T01:31:19.409" v="11" actId="207"/>
          <ac:graphicFrameMkLst>
            <pc:docMk/>
            <pc:sldMk cId="3026625994" sldId="336"/>
            <ac:graphicFrameMk id="2" creationId="{D581CC55-F992-418B-60CD-A04C8ADB4579}"/>
          </ac:graphicFrameMkLst>
        </pc:graphicFrameChg>
      </pc:sldChg>
      <pc:sldChg chg="modSp mod">
        <pc:chgData name="Krishna Warfade" userId="1bce5f9b04da9ca8" providerId="LiveId" clId="{F80C7068-955C-456E-B4EB-EA90E0400E86}" dt="2025-01-23T01:17:10.797" v="1" actId="1076"/>
        <pc:sldMkLst>
          <pc:docMk/>
          <pc:sldMk cId="1932360628" sldId="337"/>
        </pc:sldMkLst>
        <pc:picChg chg="mod">
          <ac:chgData name="Krishna Warfade" userId="1bce5f9b04da9ca8" providerId="LiveId" clId="{F80C7068-955C-456E-B4EB-EA90E0400E86}" dt="2025-01-23T01:17:10.797" v="1" actId="1076"/>
          <ac:picMkLst>
            <pc:docMk/>
            <pc:sldMk cId="1932360628" sldId="337"/>
            <ac:picMk id="3" creationId="{64878E89-4824-4A7C-1A7D-A9DFE8DF2ADE}"/>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AD1BC2-CCA1-47ED-B028-396105AC3325}" type="doc">
      <dgm:prSet loTypeId="urn:microsoft.com/office/officeart/2011/layout/HexagonRadial" loCatId="officeonline" qsTypeId="urn:microsoft.com/office/officeart/2005/8/quickstyle/simple5" qsCatId="simple" csTypeId="urn:microsoft.com/office/officeart/2005/8/colors/colorful5" csCatId="colorful" phldr="1"/>
      <dgm:spPr/>
      <dgm:t>
        <a:bodyPr/>
        <a:lstStyle/>
        <a:p>
          <a:endParaRPr lang="en-US"/>
        </a:p>
      </dgm:t>
    </dgm:pt>
    <dgm:pt modelId="{01199D13-04F8-4C7D-9A32-95E6DD7A863A}">
      <dgm:prSet phldrT="[Text]" custT="1"/>
      <dgm:spPr/>
      <dgm:t>
        <a:bodyPr/>
        <a:lstStyle/>
        <a:p>
          <a:r>
            <a:rPr lang="en-US" sz="2400" dirty="0">
              <a:solidFill>
                <a:schemeClr val="tx1"/>
              </a:solidFill>
            </a:rPr>
            <a:t>Biomimicry Engineer</a:t>
          </a:r>
        </a:p>
      </dgm:t>
    </dgm:pt>
    <dgm:pt modelId="{00BA0728-74C1-460D-8F09-2D6583929062}" type="parTrans" cxnId="{2D08B6BD-8496-4C5A-8138-8FC8A7AACE42}">
      <dgm:prSet/>
      <dgm:spPr/>
      <dgm:t>
        <a:bodyPr/>
        <a:lstStyle/>
        <a:p>
          <a:endParaRPr lang="en-US" sz="2400"/>
        </a:p>
      </dgm:t>
    </dgm:pt>
    <dgm:pt modelId="{4469E389-EDE1-4030-9AC5-CA7C0D3D0320}" type="sibTrans" cxnId="{2D08B6BD-8496-4C5A-8138-8FC8A7AACE42}">
      <dgm:prSet/>
      <dgm:spPr/>
      <dgm:t>
        <a:bodyPr/>
        <a:lstStyle/>
        <a:p>
          <a:endParaRPr lang="en-US" sz="2400"/>
        </a:p>
      </dgm:t>
    </dgm:pt>
    <dgm:pt modelId="{88AEABA3-DBA8-4AA1-9EB2-612E6642D7EF}">
      <dgm:prSet phldrT="[Text]" custT="1"/>
      <dgm:spPr/>
      <dgm:t>
        <a:bodyPr/>
        <a:lstStyle/>
        <a:p>
          <a:r>
            <a:rPr lang="en-US" sz="2400" dirty="0">
              <a:solidFill>
                <a:schemeClr val="tx1"/>
              </a:solidFill>
            </a:rPr>
            <a:t>Perfusionist</a:t>
          </a:r>
        </a:p>
      </dgm:t>
    </dgm:pt>
    <dgm:pt modelId="{EFBA2D18-0D30-45B7-AF8F-1D3712D86152}" type="parTrans" cxnId="{5CB00588-75AE-45D4-8266-656F5A4B17BE}">
      <dgm:prSet/>
      <dgm:spPr/>
      <dgm:t>
        <a:bodyPr/>
        <a:lstStyle/>
        <a:p>
          <a:endParaRPr lang="en-US" sz="2400"/>
        </a:p>
      </dgm:t>
    </dgm:pt>
    <dgm:pt modelId="{78444950-3315-4CFD-8C68-5FDC468CD769}" type="sibTrans" cxnId="{5CB00588-75AE-45D4-8266-656F5A4B17BE}">
      <dgm:prSet/>
      <dgm:spPr/>
      <dgm:t>
        <a:bodyPr/>
        <a:lstStyle/>
        <a:p>
          <a:endParaRPr lang="en-US" sz="2400"/>
        </a:p>
      </dgm:t>
    </dgm:pt>
    <dgm:pt modelId="{772409DF-F871-431D-8968-C99478CC5546}">
      <dgm:prSet phldrT="[Text]" custT="1"/>
      <dgm:spPr/>
      <dgm:t>
        <a:bodyPr/>
        <a:lstStyle/>
        <a:p>
          <a:r>
            <a:rPr lang="en-US" sz="2400" dirty="0">
              <a:solidFill>
                <a:schemeClr val="tx1"/>
              </a:solidFill>
            </a:rPr>
            <a:t>Equipment technician</a:t>
          </a:r>
        </a:p>
      </dgm:t>
    </dgm:pt>
    <dgm:pt modelId="{76CE2DBF-D04D-4756-9DD2-4AE923329685}" type="parTrans" cxnId="{4ACA471B-D706-4FAB-BCC4-8E4AD70776B6}">
      <dgm:prSet/>
      <dgm:spPr/>
      <dgm:t>
        <a:bodyPr/>
        <a:lstStyle/>
        <a:p>
          <a:endParaRPr lang="en-US" sz="2400"/>
        </a:p>
      </dgm:t>
    </dgm:pt>
    <dgm:pt modelId="{CBBA4304-2E10-44A0-99F1-D74EF136D19B}" type="sibTrans" cxnId="{4ACA471B-D706-4FAB-BCC4-8E4AD70776B6}">
      <dgm:prSet/>
      <dgm:spPr/>
      <dgm:t>
        <a:bodyPr/>
        <a:lstStyle/>
        <a:p>
          <a:endParaRPr lang="en-US" sz="2400"/>
        </a:p>
      </dgm:t>
    </dgm:pt>
    <dgm:pt modelId="{0AE6743A-D869-444F-90FA-9C9E68BEDD74}">
      <dgm:prSet phldrT="[Text]" custT="1"/>
      <dgm:spPr/>
      <dgm:t>
        <a:bodyPr/>
        <a:lstStyle/>
        <a:p>
          <a:r>
            <a:rPr lang="en-US" sz="2400" dirty="0">
              <a:solidFill>
                <a:schemeClr val="tx1"/>
              </a:solidFill>
            </a:rPr>
            <a:t>Microbiologist</a:t>
          </a:r>
        </a:p>
      </dgm:t>
    </dgm:pt>
    <dgm:pt modelId="{85D2B6C4-EAB3-449F-9664-BC516E3BC35D}" type="parTrans" cxnId="{A195B190-A6D0-4DA7-9D68-E38A224EBCD2}">
      <dgm:prSet/>
      <dgm:spPr/>
      <dgm:t>
        <a:bodyPr/>
        <a:lstStyle/>
        <a:p>
          <a:endParaRPr lang="en-US" sz="2400"/>
        </a:p>
      </dgm:t>
    </dgm:pt>
    <dgm:pt modelId="{998A4337-2275-46A6-9710-269EAC84EDF0}" type="sibTrans" cxnId="{A195B190-A6D0-4DA7-9D68-E38A224EBCD2}">
      <dgm:prSet/>
      <dgm:spPr/>
      <dgm:t>
        <a:bodyPr/>
        <a:lstStyle/>
        <a:p>
          <a:endParaRPr lang="en-US" sz="2400"/>
        </a:p>
      </dgm:t>
    </dgm:pt>
    <dgm:pt modelId="{DD95AAB6-0FC4-498A-B15F-EECE9A429C02}">
      <dgm:prSet phldrT="[Text]" custT="1"/>
      <dgm:spPr/>
      <dgm:t>
        <a:bodyPr/>
        <a:lstStyle/>
        <a:p>
          <a:r>
            <a:rPr lang="en-US" sz="2400" dirty="0">
              <a:solidFill>
                <a:schemeClr val="tx1"/>
              </a:solidFill>
            </a:rPr>
            <a:t>Pharmaceutical Manufacturer</a:t>
          </a:r>
        </a:p>
      </dgm:t>
    </dgm:pt>
    <dgm:pt modelId="{0C5E8EB7-213C-4157-9559-39D9C0298095}" type="parTrans" cxnId="{0835CC11-ED68-4031-91B0-0EF7436EBAC2}">
      <dgm:prSet/>
      <dgm:spPr/>
      <dgm:t>
        <a:bodyPr/>
        <a:lstStyle/>
        <a:p>
          <a:endParaRPr lang="en-US" sz="2400"/>
        </a:p>
      </dgm:t>
    </dgm:pt>
    <dgm:pt modelId="{CD88A1D9-657C-469D-845E-7BC0ECB91D2D}" type="sibTrans" cxnId="{0835CC11-ED68-4031-91B0-0EF7436EBAC2}">
      <dgm:prSet/>
      <dgm:spPr/>
      <dgm:t>
        <a:bodyPr/>
        <a:lstStyle/>
        <a:p>
          <a:endParaRPr lang="en-US" sz="2400"/>
        </a:p>
      </dgm:t>
    </dgm:pt>
    <dgm:pt modelId="{F93B3E3C-ADE7-4797-8D97-F6388DDA51CB}">
      <dgm:prSet phldrT="[Text]" custT="1"/>
      <dgm:spPr/>
      <dgm:t>
        <a:bodyPr/>
        <a:lstStyle/>
        <a:p>
          <a:r>
            <a:rPr lang="en-US" sz="2400" dirty="0">
              <a:solidFill>
                <a:schemeClr val="tx1"/>
              </a:solidFill>
            </a:rPr>
            <a:t>Biomedical  Engineer </a:t>
          </a:r>
        </a:p>
      </dgm:t>
    </dgm:pt>
    <dgm:pt modelId="{E1C29401-9D51-4156-A530-251015E07DA0}" type="parTrans" cxnId="{63CC8095-36F7-4F7E-AE29-177676878ED8}">
      <dgm:prSet/>
      <dgm:spPr/>
      <dgm:t>
        <a:bodyPr/>
        <a:lstStyle/>
        <a:p>
          <a:endParaRPr lang="en-US" sz="2400"/>
        </a:p>
      </dgm:t>
    </dgm:pt>
    <dgm:pt modelId="{0552C34D-52AF-4545-AAC2-E902C02E43FF}" type="sibTrans" cxnId="{63CC8095-36F7-4F7E-AE29-177676878ED8}">
      <dgm:prSet/>
      <dgm:spPr/>
      <dgm:t>
        <a:bodyPr/>
        <a:lstStyle/>
        <a:p>
          <a:endParaRPr lang="en-US" sz="2400"/>
        </a:p>
      </dgm:t>
    </dgm:pt>
    <dgm:pt modelId="{67037B7A-612C-4BB5-8612-2E64F3CEA7C3}">
      <dgm:prSet phldrT="[Text]" custT="1"/>
      <dgm:spPr/>
      <dgm:t>
        <a:bodyPr/>
        <a:lstStyle/>
        <a:p>
          <a:r>
            <a:rPr lang="en-US" sz="2400" dirty="0">
              <a:solidFill>
                <a:schemeClr val="tx1"/>
              </a:solidFill>
            </a:rPr>
            <a:t>Architect</a:t>
          </a:r>
        </a:p>
      </dgm:t>
    </dgm:pt>
    <dgm:pt modelId="{AEE7AEFC-79FE-40CE-80DE-DA8178BF988B}" type="parTrans" cxnId="{DB698E80-6A56-4F22-8D16-86DB11DCC703}">
      <dgm:prSet/>
      <dgm:spPr/>
      <dgm:t>
        <a:bodyPr/>
        <a:lstStyle/>
        <a:p>
          <a:endParaRPr lang="en-US" sz="2400"/>
        </a:p>
      </dgm:t>
    </dgm:pt>
    <dgm:pt modelId="{ED09BCCC-6A73-4D80-8B35-78955CE504FA}" type="sibTrans" cxnId="{DB698E80-6A56-4F22-8D16-86DB11DCC703}">
      <dgm:prSet/>
      <dgm:spPr/>
      <dgm:t>
        <a:bodyPr/>
        <a:lstStyle/>
        <a:p>
          <a:endParaRPr lang="en-US" sz="2400"/>
        </a:p>
      </dgm:t>
    </dgm:pt>
    <dgm:pt modelId="{36FDDE57-7A37-4FF3-9AC5-EC4EDA00441A}" type="pres">
      <dgm:prSet presAssocID="{F3AD1BC2-CCA1-47ED-B028-396105AC3325}" presName="Name0" presStyleCnt="0">
        <dgm:presLayoutVars>
          <dgm:chMax val="1"/>
          <dgm:chPref val="1"/>
          <dgm:dir/>
          <dgm:animOne val="branch"/>
          <dgm:animLvl val="lvl"/>
        </dgm:presLayoutVars>
      </dgm:prSet>
      <dgm:spPr/>
    </dgm:pt>
    <dgm:pt modelId="{11287D89-E7C9-4203-BDDB-00E810DE1C61}" type="pres">
      <dgm:prSet presAssocID="{01199D13-04F8-4C7D-9A32-95E6DD7A863A}" presName="Parent" presStyleLbl="node0" presStyleIdx="0" presStyleCnt="1">
        <dgm:presLayoutVars>
          <dgm:chMax val="6"/>
          <dgm:chPref val="6"/>
        </dgm:presLayoutVars>
      </dgm:prSet>
      <dgm:spPr/>
    </dgm:pt>
    <dgm:pt modelId="{B114959B-FB45-4865-93E1-B7689C62703C}" type="pres">
      <dgm:prSet presAssocID="{88AEABA3-DBA8-4AA1-9EB2-612E6642D7EF}" presName="Accent1" presStyleCnt="0"/>
      <dgm:spPr/>
    </dgm:pt>
    <dgm:pt modelId="{E5EC3234-CC47-4941-BE9A-EDE13ABFB256}" type="pres">
      <dgm:prSet presAssocID="{88AEABA3-DBA8-4AA1-9EB2-612E6642D7EF}" presName="Accent" presStyleLbl="bgShp" presStyleIdx="0" presStyleCnt="6"/>
      <dgm:spPr/>
    </dgm:pt>
    <dgm:pt modelId="{593C0145-512B-4FF5-A3C8-51EFCF14F474}" type="pres">
      <dgm:prSet presAssocID="{88AEABA3-DBA8-4AA1-9EB2-612E6642D7EF}" presName="Child1" presStyleLbl="node1" presStyleIdx="0" presStyleCnt="6">
        <dgm:presLayoutVars>
          <dgm:chMax val="0"/>
          <dgm:chPref val="0"/>
          <dgm:bulletEnabled val="1"/>
        </dgm:presLayoutVars>
      </dgm:prSet>
      <dgm:spPr/>
    </dgm:pt>
    <dgm:pt modelId="{7FC73CC9-FB6D-4FED-94C2-44B5ED2194FB}" type="pres">
      <dgm:prSet presAssocID="{772409DF-F871-431D-8968-C99478CC5546}" presName="Accent2" presStyleCnt="0"/>
      <dgm:spPr/>
    </dgm:pt>
    <dgm:pt modelId="{791260B1-0831-4450-9D8F-9BED0605AC52}" type="pres">
      <dgm:prSet presAssocID="{772409DF-F871-431D-8968-C99478CC5546}" presName="Accent" presStyleLbl="bgShp" presStyleIdx="1" presStyleCnt="6"/>
      <dgm:spPr/>
    </dgm:pt>
    <dgm:pt modelId="{8231958A-427F-45F9-8A83-1FA676D3A1B0}" type="pres">
      <dgm:prSet presAssocID="{772409DF-F871-431D-8968-C99478CC5546}" presName="Child2" presStyleLbl="node1" presStyleIdx="1" presStyleCnt="6">
        <dgm:presLayoutVars>
          <dgm:chMax val="0"/>
          <dgm:chPref val="0"/>
          <dgm:bulletEnabled val="1"/>
        </dgm:presLayoutVars>
      </dgm:prSet>
      <dgm:spPr/>
    </dgm:pt>
    <dgm:pt modelId="{BF583E87-3004-4A35-BD79-32364B8B32EB}" type="pres">
      <dgm:prSet presAssocID="{0AE6743A-D869-444F-90FA-9C9E68BEDD74}" presName="Accent3" presStyleCnt="0"/>
      <dgm:spPr/>
    </dgm:pt>
    <dgm:pt modelId="{3F30A6A7-1A6B-491C-A1DE-49D95AF7F93F}" type="pres">
      <dgm:prSet presAssocID="{0AE6743A-D869-444F-90FA-9C9E68BEDD74}" presName="Accent" presStyleLbl="bgShp" presStyleIdx="2" presStyleCnt="6"/>
      <dgm:spPr/>
    </dgm:pt>
    <dgm:pt modelId="{6E7EB575-DB07-4D98-9F1D-50A8B6404598}" type="pres">
      <dgm:prSet presAssocID="{0AE6743A-D869-444F-90FA-9C9E68BEDD74}" presName="Child3" presStyleLbl="node1" presStyleIdx="2" presStyleCnt="6">
        <dgm:presLayoutVars>
          <dgm:chMax val="0"/>
          <dgm:chPref val="0"/>
          <dgm:bulletEnabled val="1"/>
        </dgm:presLayoutVars>
      </dgm:prSet>
      <dgm:spPr/>
    </dgm:pt>
    <dgm:pt modelId="{BF511DC5-A72F-492B-9BA9-192ED87043ED}" type="pres">
      <dgm:prSet presAssocID="{DD95AAB6-0FC4-498A-B15F-EECE9A429C02}" presName="Accent4" presStyleCnt="0"/>
      <dgm:spPr/>
    </dgm:pt>
    <dgm:pt modelId="{3F350FE1-8F83-4328-B3E3-C88B214A855C}" type="pres">
      <dgm:prSet presAssocID="{DD95AAB6-0FC4-498A-B15F-EECE9A429C02}" presName="Accent" presStyleLbl="bgShp" presStyleIdx="3" presStyleCnt="6"/>
      <dgm:spPr/>
    </dgm:pt>
    <dgm:pt modelId="{8E5FBB9A-70B0-46D7-A15C-FA14E681FE64}" type="pres">
      <dgm:prSet presAssocID="{DD95AAB6-0FC4-498A-B15F-EECE9A429C02}" presName="Child4" presStyleLbl="node1" presStyleIdx="3" presStyleCnt="6">
        <dgm:presLayoutVars>
          <dgm:chMax val="0"/>
          <dgm:chPref val="0"/>
          <dgm:bulletEnabled val="1"/>
        </dgm:presLayoutVars>
      </dgm:prSet>
      <dgm:spPr/>
    </dgm:pt>
    <dgm:pt modelId="{151D1523-C2C9-4899-A7F3-E8B17F0182A2}" type="pres">
      <dgm:prSet presAssocID="{F93B3E3C-ADE7-4797-8D97-F6388DDA51CB}" presName="Accent5" presStyleCnt="0"/>
      <dgm:spPr/>
    </dgm:pt>
    <dgm:pt modelId="{C92DD1C8-880E-41DE-8083-8361C08F6A47}" type="pres">
      <dgm:prSet presAssocID="{F93B3E3C-ADE7-4797-8D97-F6388DDA51CB}" presName="Accent" presStyleLbl="bgShp" presStyleIdx="4" presStyleCnt="6"/>
      <dgm:spPr/>
    </dgm:pt>
    <dgm:pt modelId="{FF56E4B6-129F-4E6E-A703-8758EA13AA68}" type="pres">
      <dgm:prSet presAssocID="{F93B3E3C-ADE7-4797-8D97-F6388DDA51CB}" presName="Child5" presStyleLbl="node1" presStyleIdx="4" presStyleCnt="6">
        <dgm:presLayoutVars>
          <dgm:chMax val="0"/>
          <dgm:chPref val="0"/>
          <dgm:bulletEnabled val="1"/>
        </dgm:presLayoutVars>
      </dgm:prSet>
      <dgm:spPr/>
    </dgm:pt>
    <dgm:pt modelId="{FE568BC1-12DF-4C3D-9899-D1089761EC2F}" type="pres">
      <dgm:prSet presAssocID="{67037B7A-612C-4BB5-8612-2E64F3CEA7C3}" presName="Accent6" presStyleCnt="0"/>
      <dgm:spPr/>
    </dgm:pt>
    <dgm:pt modelId="{DDA0AB14-FBCB-431F-BF07-FA6AE3A21C50}" type="pres">
      <dgm:prSet presAssocID="{67037B7A-612C-4BB5-8612-2E64F3CEA7C3}" presName="Accent" presStyleLbl="bgShp" presStyleIdx="5" presStyleCnt="6"/>
      <dgm:spPr/>
    </dgm:pt>
    <dgm:pt modelId="{7625D61A-0632-479C-81E3-AAE03E4163D3}" type="pres">
      <dgm:prSet presAssocID="{67037B7A-612C-4BB5-8612-2E64F3CEA7C3}" presName="Child6" presStyleLbl="node1" presStyleIdx="5" presStyleCnt="6">
        <dgm:presLayoutVars>
          <dgm:chMax val="0"/>
          <dgm:chPref val="0"/>
          <dgm:bulletEnabled val="1"/>
        </dgm:presLayoutVars>
      </dgm:prSet>
      <dgm:spPr/>
    </dgm:pt>
  </dgm:ptLst>
  <dgm:cxnLst>
    <dgm:cxn modelId="{BC75880D-0CDC-4572-A20E-DBA6C9051596}" type="presOf" srcId="{01199D13-04F8-4C7D-9A32-95E6DD7A863A}" destId="{11287D89-E7C9-4203-BDDB-00E810DE1C61}" srcOrd="0" destOrd="0" presId="urn:microsoft.com/office/officeart/2011/layout/HexagonRadial"/>
    <dgm:cxn modelId="{0835CC11-ED68-4031-91B0-0EF7436EBAC2}" srcId="{01199D13-04F8-4C7D-9A32-95E6DD7A863A}" destId="{DD95AAB6-0FC4-498A-B15F-EECE9A429C02}" srcOrd="3" destOrd="0" parTransId="{0C5E8EB7-213C-4157-9559-39D9C0298095}" sibTransId="{CD88A1D9-657C-469D-845E-7BC0ECB91D2D}"/>
    <dgm:cxn modelId="{4ACA471B-D706-4FAB-BCC4-8E4AD70776B6}" srcId="{01199D13-04F8-4C7D-9A32-95E6DD7A863A}" destId="{772409DF-F871-431D-8968-C99478CC5546}" srcOrd="1" destOrd="0" parTransId="{76CE2DBF-D04D-4756-9DD2-4AE923329685}" sibTransId="{CBBA4304-2E10-44A0-99F1-D74EF136D19B}"/>
    <dgm:cxn modelId="{506E3735-DE15-49DF-8EB9-59FE97DC6429}" type="presOf" srcId="{67037B7A-612C-4BB5-8612-2E64F3CEA7C3}" destId="{7625D61A-0632-479C-81E3-AAE03E4163D3}" srcOrd="0" destOrd="0" presId="urn:microsoft.com/office/officeart/2011/layout/HexagonRadial"/>
    <dgm:cxn modelId="{CF8C5938-0664-4EA8-90B7-D3FBB873FC74}" type="presOf" srcId="{88AEABA3-DBA8-4AA1-9EB2-612E6642D7EF}" destId="{593C0145-512B-4FF5-A3C8-51EFCF14F474}" srcOrd="0" destOrd="0" presId="urn:microsoft.com/office/officeart/2011/layout/HexagonRadial"/>
    <dgm:cxn modelId="{A0BAF449-B50B-4BE3-8480-B9F309DE12C4}" type="presOf" srcId="{F93B3E3C-ADE7-4797-8D97-F6388DDA51CB}" destId="{FF56E4B6-129F-4E6E-A703-8758EA13AA68}" srcOrd="0" destOrd="0" presId="urn:microsoft.com/office/officeart/2011/layout/HexagonRadial"/>
    <dgm:cxn modelId="{F9206280-8B6D-4B66-B1D5-5442AB8EE47D}" type="presOf" srcId="{0AE6743A-D869-444F-90FA-9C9E68BEDD74}" destId="{6E7EB575-DB07-4D98-9F1D-50A8B6404598}" srcOrd="0" destOrd="0" presId="urn:microsoft.com/office/officeart/2011/layout/HexagonRadial"/>
    <dgm:cxn modelId="{DB698E80-6A56-4F22-8D16-86DB11DCC703}" srcId="{01199D13-04F8-4C7D-9A32-95E6DD7A863A}" destId="{67037B7A-612C-4BB5-8612-2E64F3CEA7C3}" srcOrd="5" destOrd="0" parTransId="{AEE7AEFC-79FE-40CE-80DE-DA8178BF988B}" sibTransId="{ED09BCCC-6A73-4D80-8B35-78955CE504FA}"/>
    <dgm:cxn modelId="{5CB00588-75AE-45D4-8266-656F5A4B17BE}" srcId="{01199D13-04F8-4C7D-9A32-95E6DD7A863A}" destId="{88AEABA3-DBA8-4AA1-9EB2-612E6642D7EF}" srcOrd="0" destOrd="0" parTransId="{EFBA2D18-0D30-45B7-AF8F-1D3712D86152}" sibTransId="{78444950-3315-4CFD-8C68-5FDC468CD769}"/>
    <dgm:cxn modelId="{A195B190-A6D0-4DA7-9D68-E38A224EBCD2}" srcId="{01199D13-04F8-4C7D-9A32-95E6DD7A863A}" destId="{0AE6743A-D869-444F-90FA-9C9E68BEDD74}" srcOrd="2" destOrd="0" parTransId="{85D2B6C4-EAB3-449F-9664-BC516E3BC35D}" sibTransId="{998A4337-2275-46A6-9710-269EAC84EDF0}"/>
    <dgm:cxn modelId="{63CC8095-36F7-4F7E-AE29-177676878ED8}" srcId="{01199D13-04F8-4C7D-9A32-95E6DD7A863A}" destId="{F93B3E3C-ADE7-4797-8D97-F6388DDA51CB}" srcOrd="4" destOrd="0" parTransId="{E1C29401-9D51-4156-A530-251015E07DA0}" sibTransId="{0552C34D-52AF-4545-AAC2-E902C02E43FF}"/>
    <dgm:cxn modelId="{CEA08C9D-21ED-4D6D-8A87-0E07D7272544}" type="presOf" srcId="{DD95AAB6-0FC4-498A-B15F-EECE9A429C02}" destId="{8E5FBB9A-70B0-46D7-A15C-FA14E681FE64}" srcOrd="0" destOrd="0" presId="urn:microsoft.com/office/officeart/2011/layout/HexagonRadial"/>
    <dgm:cxn modelId="{2D08B6BD-8496-4C5A-8138-8FC8A7AACE42}" srcId="{F3AD1BC2-CCA1-47ED-B028-396105AC3325}" destId="{01199D13-04F8-4C7D-9A32-95E6DD7A863A}" srcOrd="0" destOrd="0" parTransId="{00BA0728-74C1-460D-8F09-2D6583929062}" sibTransId="{4469E389-EDE1-4030-9AC5-CA7C0D3D0320}"/>
    <dgm:cxn modelId="{130301DB-A0D4-4429-9547-2C4CE6DCA312}" type="presOf" srcId="{772409DF-F871-431D-8968-C99478CC5546}" destId="{8231958A-427F-45F9-8A83-1FA676D3A1B0}" srcOrd="0" destOrd="0" presId="urn:microsoft.com/office/officeart/2011/layout/HexagonRadial"/>
    <dgm:cxn modelId="{85AD20F2-BE05-49A7-8158-652DE5CF2C06}" type="presOf" srcId="{F3AD1BC2-CCA1-47ED-B028-396105AC3325}" destId="{36FDDE57-7A37-4FF3-9AC5-EC4EDA00441A}" srcOrd="0" destOrd="0" presId="urn:microsoft.com/office/officeart/2011/layout/HexagonRadial"/>
    <dgm:cxn modelId="{67B72516-3A4F-4EDD-B998-31028D94D44F}" type="presParOf" srcId="{36FDDE57-7A37-4FF3-9AC5-EC4EDA00441A}" destId="{11287D89-E7C9-4203-BDDB-00E810DE1C61}" srcOrd="0" destOrd="0" presId="urn:microsoft.com/office/officeart/2011/layout/HexagonRadial"/>
    <dgm:cxn modelId="{6815F0DF-E355-49D1-86D3-DA5E63966B95}" type="presParOf" srcId="{36FDDE57-7A37-4FF3-9AC5-EC4EDA00441A}" destId="{B114959B-FB45-4865-93E1-B7689C62703C}" srcOrd="1" destOrd="0" presId="urn:microsoft.com/office/officeart/2011/layout/HexagonRadial"/>
    <dgm:cxn modelId="{6FA2BD96-19D4-44B9-8C9A-5FE95FADE3CE}" type="presParOf" srcId="{B114959B-FB45-4865-93E1-B7689C62703C}" destId="{E5EC3234-CC47-4941-BE9A-EDE13ABFB256}" srcOrd="0" destOrd="0" presId="urn:microsoft.com/office/officeart/2011/layout/HexagonRadial"/>
    <dgm:cxn modelId="{42E0FE31-D7F9-466A-AE37-72E0EFB32B6E}" type="presParOf" srcId="{36FDDE57-7A37-4FF3-9AC5-EC4EDA00441A}" destId="{593C0145-512B-4FF5-A3C8-51EFCF14F474}" srcOrd="2" destOrd="0" presId="urn:microsoft.com/office/officeart/2011/layout/HexagonRadial"/>
    <dgm:cxn modelId="{EF233DB0-8FF7-46EE-BAF6-A1060DE550B7}" type="presParOf" srcId="{36FDDE57-7A37-4FF3-9AC5-EC4EDA00441A}" destId="{7FC73CC9-FB6D-4FED-94C2-44B5ED2194FB}" srcOrd="3" destOrd="0" presId="urn:microsoft.com/office/officeart/2011/layout/HexagonRadial"/>
    <dgm:cxn modelId="{09EA4CAA-E097-44BC-8021-7DA8681089DE}" type="presParOf" srcId="{7FC73CC9-FB6D-4FED-94C2-44B5ED2194FB}" destId="{791260B1-0831-4450-9D8F-9BED0605AC52}" srcOrd="0" destOrd="0" presId="urn:microsoft.com/office/officeart/2011/layout/HexagonRadial"/>
    <dgm:cxn modelId="{85B44D75-569B-4A26-B4C0-6B6412ED0E10}" type="presParOf" srcId="{36FDDE57-7A37-4FF3-9AC5-EC4EDA00441A}" destId="{8231958A-427F-45F9-8A83-1FA676D3A1B0}" srcOrd="4" destOrd="0" presId="urn:microsoft.com/office/officeart/2011/layout/HexagonRadial"/>
    <dgm:cxn modelId="{533AD48A-0F11-47AD-8063-C9B766F41057}" type="presParOf" srcId="{36FDDE57-7A37-4FF3-9AC5-EC4EDA00441A}" destId="{BF583E87-3004-4A35-BD79-32364B8B32EB}" srcOrd="5" destOrd="0" presId="urn:microsoft.com/office/officeart/2011/layout/HexagonRadial"/>
    <dgm:cxn modelId="{94455207-B0E7-44AA-9510-7F9F9846CEF9}" type="presParOf" srcId="{BF583E87-3004-4A35-BD79-32364B8B32EB}" destId="{3F30A6A7-1A6B-491C-A1DE-49D95AF7F93F}" srcOrd="0" destOrd="0" presId="urn:microsoft.com/office/officeart/2011/layout/HexagonRadial"/>
    <dgm:cxn modelId="{0914B8AC-2280-4DD1-8A5F-3232933C8BD7}" type="presParOf" srcId="{36FDDE57-7A37-4FF3-9AC5-EC4EDA00441A}" destId="{6E7EB575-DB07-4D98-9F1D-50A8B6404598}" srcOrd="6" destOrd="0" presId="urn:microsoft.com/office/officeart/2011/layout/HexagonRadial"/>
    <dgm:cxn modelId="{C8CC346A-159A-4797-8ACD-0DBF79ED55E6}" type="presParOf" srcId="{36FDDE57-7A37-4FF3-9AC5-EC4EDA00441A}" destId="{BF511DC5-A72F-492B-9BA9-192ED87043ED}" srcOrd="7" destOrd="0" presId="urn:microsoft.com/office/officeart/2011/layout/HexagonRadial"/>
    <dgm:cxn modelId="{9986A467-6FDC-4834-A3EC-EB6627BD681D}" type="presParOf" srcId="{BF511DC5-A72F-492B-9BA9-192ED87043ED}" destId="{3F350FE1-8F83-4328-B3E3-C88B214A855C}" srcOrd="0" destOrd="0" presId="urn:microsoft.com/office/officeart/2011/layout/HexagonRadial"/>
    <dgm:cxn modelId="{B3C1DAE7-A31F-41B7-9C32-E41AE947179B}" type="presParOf" srcId="{36FDDE57-7A37-4FF3-9AC5-EC4EDA00441A}" destId="{8E5FBB9A-70B0-46D7-A15C-FA14E681FE64}" srcOrd="8" destOrd="0" presId="urn:microsoft.com/office/officeart/2011/layout/HexagonRadial"/>
    <dgm:cxn modelId="{5E63A1E9-C162-4367-BFAF-5E04B95E103E}" type="presParOf" srcId="{36FDDE57-7A37-4FF3-9AC5-EC4EDA00441A}" destId="{151D1523-C2C9-4899-A7F3-E8B17F0182A2}" srcOrd="9" destOrd="0" presId="urn:microsoft.com/office/officeart/2011/layout/HexagonRadial"/>
    <dgm:cxn modelId="{6D9278A4-100C-47FD-974D-DCD8885E8E5C}" type="presParOf" srcId="{151D1523-C2C9-4899-A7F3-E8B17F0182A2}" destId="{C92DD1C8-880E-41DE-8083-8361C08F6A47}" srcOrd="0" destOrd="0" presId="urn:microsoft.com/office/officeart/2011/layout/HexagonRadial"/>
    <dgm:cxn modelId="{5D51565A-0190-4E0E-80E4-7D979C89C5F7}" type="presParOf" srcId="{36FDDE57-7A37-4FF3-9AC5-EC4EDA00441A}" destId="{FF56E4B6-129F-4E6E-A703-8758EA13AA68}" srcOrd="10" destOrd="0" presId="urn:microsoft.com/office/officeart/2011/layout/HexagonRadial"/>
    <dgm:cxn modelId="{CABF060D-7D00-453D-B9C7-339E69A8B2F3}" type="presParOf" srcId="{36FDDE57-7A37-4FF3-9AC5-EC4EDA00441A}" destId="{FE568BC1-12DF-4C3D-9899-D1089761EC2F}" srcOrd="11" destOrd="0" presId="urn:microsoft.com/office/officeart/2011/layout/HexagonRadial"/>
    <dgm:cxn modelId="{C37B26C1-530C-4632-B560-99E8C81E8F1A}" type="presParOf" srcId="{FE568BC1-12DF-4C3D-9899-D1089761EC2F}" destId="{DDA0AB14-FBCB-431F-BF07-FA6AE3A21C50}" srcOrd="0" destOrd="0" presId="urn:microsoft.com/office/officeart/2011/layout/HexagonRadial"/>
    <dgm:cxn modelId="{2E6E9C4F-0DC0-4CCB-8CAF-ABAD6469C631}" type="presParOf" srcId="{36FDDE57-7A37-4FF3-9AC5-EC4EDA00441A}" destId="{7625D61A-0632-479C-81E3-AAE03E4163D3}"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287D89-E7C9-4203-BDDB-00E810DE1C61}">
      <dsp:nvSpPr>
        <dsp:cNvPr id="0" name=""/>
        <dsp:cNvSpPr/>
      </dsp:nvSpPr>
      <dsp:spPr>
        <a:xfrm>
          <a:off x="3099916" y="2105075"/>
          <a:ext cx="2675643" cy="2314539"/>
        </a:xfrm>
        <a:prstGeom prst="hexagon">
          <a:avLst>
            <a:gd name="adj" fmla="val 28570"/>
            <a:gd name="vf" fmla="val 11547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Biomimicry Engineer</a:t>
          </a:r>
        </a:p>
      </dsp:txBody>
      <dsp:txXfrm>
        <a:off x="3543308" y="2488627"/>
        <a:ext cx="1788859" cy="1547435"/>
      </dsp:txXfrm>
    </dsp:sp>
    <dsp:sp modelId="{791260B1-0831-4450-9D8F-9BED0605AC52}">
      <dsp:nvSpPr>
        <dsp:cNvPr id="0" name=""/>
        <dsp:cNvSpPr/>
      </dsp:nvSpPr>
      <dsp:spPr>
        <a:xfrm>
          <a:off x="4775383" y="997725"/>
          <a:ext cx="1009512" cy="869828"/>
        </a:xfrm>
        <a:prstGeom prst="hexagon">
          <a:avLst>
            <a:gd name="adj" fmla="val 28900"/>
            <a:gd name="vf" fmla="val 115470"/>
          </a:avLst>
        </a:prstGeom>
        <a:solidFill>
          <a:schemeClr val="accent5">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593C0145-512B-4FF5-A3C8-51EFCF14F474}">
      <dsp:nvSpPr>
        <dsp:cNvPr id="0" name=""/>
        <dsp:cNvSpPr/>
      </dsp:nvSpPr>
      <dsp:spPr>
        <a:xfrm>
          <a:off x="3346382" y="0"/>
          <a:ext cx="2192670" cy="1896917"/>
        </a:xfrm>
        <a:prstGeom prst="hexagon">
          <a:avLst>
            <a:gd name="adj" fmla="val 28570"/>
            <a:gd name="vf" fmla="val 11547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Perfusionist</a:t>
          </a:r>
        </a:p>
      </dsp:txBody>
      <dsp:txXfrm>
        <a:off x="3709754" y="314360"/>
        <a:ext cx="1465926" cy="1268197"/>
      </dsp:txXfrm>
    </dsp:sp>
    <dsp:sp modelId="{3F30A6A7-1A6B-491C-A1DE-49D95AF7F93F}">
      <dsp:nvSpPr>
        <dsp:cNvPr id="0" name=""/>
        <dsp:cNvSpPr/>
      </dsp:nvSpPr>
      <dsp:spPr>
        <a:xfrm>
          <a:off x="5953562" y="2623840"/>
          <a:ext cx="1009512" cy="869828"/>
        </a:xfrm>
        <a:prstGeom prst="hexagon">
          <a:avLst>
            <a:gd name="adj" fmla="val 28900"/>
            <a:gd name="vf" fmla="val 115470"/>
          </a:avLst>
        </a:prstGeom>
        <a:solidFill>
          <a:schemeClr val="accent5">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8231958A-427F-45F9-8A83-1FA676D3A1B0}">
      <dsp:nvSpPr>
        <dsp:cNvPr id="0" name=""/>
        <dsp:cNvSpPr/>
      </dsp:nvSpPr>
      <dsp:spPr>
        <a:xfrm>
          <a:off x="5357315" y="1166731"/>
          <a:ext cx="2192670" cy="1896917"/>
        </a:xfrm>
        <a:prstGeom prst="hexagon">
          <a:avLst>
            <a:gd name="adj" fmla="val 28570"/>
            <a:gd name="vf" fmla="val 115470"/>
          </a:avLst>
        </a:prstGeom>
        <a:gradFill rotWithShape="0">
          <a:gsLst>
            <a:gs pos="0">
              <a:schemeClr val="accent5">
                <a:hueOff val="-1986775"/>
                <a:satOff val="7962"/>
                <a:lumOff val="1726"/>
                <a:alphaOff val="0"/>
                <a:shade val="51000"/>
                <a:satMod val="130000"/>
              </a:schemeClr>
            </a:gs>
            <a:gs pos="80000">
              <a:schemeClr val="accent5">
                <a:hueOff val="-1986775"/>
                <a:satOff val="7962"/>
                <a:lumOff val="1726"/>
                <a:alphaOff val="0"/>
                <a:shade val="93000"/>
                <a:satMod val="130000"/>
              </a:schemeClr>
            </a:gs>
            <a:gs pos="100000">
              <a:schemeClr val="accent5">
                <a:hueOff val="-1986775"/>
                <a:satOff val="7962"/>
                <a:lumOff val="172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Equipment technician</a:t>
          </a:r>
        </a:p>
      </dsp:txBody>
      <dsp:txXfrm>
        <a:off x="5720687" y="1481091"/>
        <a:ext cx="1465926" cy="1268197"/>
      </dsp:txXfrm>
    </dsp:sp>
    <dsp:sp modelId="{3F350FE1-8F83-4328-B3E3-C88B214A855C}">
      <dsp:nvSpPr>
        <dsp:cNvPr id="0" name=""/>
        <dsp:cNvSpPr/>
      </dsp:nvSpPr>
      <dsp:spPr>
        <a:xfrm>
          <a:off x="5135123" y="4459420"/>
          <a:ext cx="1009512" cy="869828"/>
        </a:xfrm>
        <a:prstGeom prst="hexagon">
          <a:avLst>
            <a:gd name="adj" fmla="val 28900"/>
            <a:gd name="vf" fmla="val 115470"/>
          </a:avLst>
        </a:prstGeom>
        <a:solidFill>
          <a:schemeClr val="accent5">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6E7EB575-DB07-4D98-9F1D-50A8B6404598}">
      <dsp:nvSpPr>
        <dsp:cNvPr id="0" name=""/>
        <dsp:cNvSpPr/>
      </dsp:nvSpPr>
      <dsp:spPr>
        <a:xfrm>
          <a:off x="5357315" y="3460389"/>
          <a:ext cx="2192670" cy="1896917"/>
        </a:xfrm>
        <a:prstGeom prst="hexagon">
          <a:avLst>
            <a:gd name="adj" fmla="val 28570"/>
            <a:gd name="vf" fmla="val 115470"/>
          </a:avLst>
        </a:prstGeom>
        <a:gradFill rotWithShape="0">
          <a:gsLst>
            <a:gs pos="0">
              <a:schemeClr val="accent5">
                <a:hueOff val="-3973551"/>
                <a:satOff val="15924"/>
                <a:lumOff val="3451"/>
                <a:alphaOff val="0"/>
                <a:shade val="51000"/>
                <a:satMod val="130000"/>
              </a:schemeClr>
            </a:gs>
            <a:gs pos="80000">
              <a:schemeClr val="accent5">
                <a:hueOff val="-3973551"/>
                <a:satOff val="15924"/>
                <a:lumOff val="3451"/>
                <a:alphaOff val="0"/>
                <a:shade val="93000"/>
                <a:satMod val="130000"/>
              </a:schemeClr>
            </a:gs>
            <a:gs pos="100000">
              <a:schemeClr val="accent5">
                <a:hueOff val="-3973551"/>
                <a:satOff val="15924"/>
                <a:lumOff val="3451"/>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Microbiologist</a:t>
          </a:r>
        </a:p>
      </dsp:txBody>
      <dsp:txXfrm>
        <a:off x="5720687" y="3774749"/>
        <a:ext cx="1465926" cy="1268197"/>
      </dsp:txXfrm>
    </dsp:sp>
    <dsp:sp modelId="{C92DD1C8-880E-41DE-8083-8361C08F6A47}">
      <dsp:nvSpPr>
        <dsp:cNvPr id="0" name=""/>
        <dsp:cNvSpPr/>
      </dsp:nvSpPr>
      <dsp:spPr>
        <a:xfrm>
          <a:off x="3104895" y="4649960"/>
          <a:ext cx="1009512" cy="869828"/>
        </a:xfrm>
        <a:prstGeom prst="hexagon">
          <a:avLst>
            <a:gd name="adj" fmla="val 28900"/>
            <a:gd name="vf" fmla="val 115470"/>
          </a:avLst>
        </a:prstGeom>
        <a:solidFill>
          <a:schemeClr val="accent5">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8E5FBB9A-70B0-46D7-A15C-FA14E681FE64}">
      <dsp:nvSpPr>
        <dsp:cNvPr id="0" name=""/>
        <dsp:cNvSpPr/>
      </dsp:nvSpPr>
      <dsp:spPr>
        <a:xfrm>
          <a:off x="3346382" y="4628426"/>
          <a:ext cx="2192670" cy="1896917"/>
        </a:xfrm>
        <a:prstGeom prst="hexagon">
          <a:avLst>
            <a:gd name="adj" fmla="val 28570"/>
            <a:gd name="vf" fmla="val 115470"/>
          </a:avLst>
        </a:prstGeom>
        <a:gradFill rotWithShape="0">
          <a:gsLst>
            <a:gs pos="0">
              <a:schemeClr val="accent5">
                <a:hueOff val="-5960326"/>
                <a:satOff val="23887"/>
                <a:lumOff val="5177"/>
                <a:alphaOff val="0"/>
                <a:shade val="51000"/>
                <a:satMod val="130000"/>
              </a:schemeClr>
            </a:gs>
            <a:gs pos="80000">
              <a:schemeClr val="accent5">
                <a:hueOff val="-5960326"/>
                <a:satOff val="23887"/>
                <a:lumOff val="5177"/>
                <a:alphaOff val="0"/>
                <a:shade val="93000"/>
                <a:satMod val="130000"/>
              </a:schemeClr>
            </a:gs>
            <a:gs pos="100000">
              <a:schemeClr val="accent5">
                <a:hueOff val="-5960326"/>
                <a:satOff val="23887"/>
                <a:lumOff val="517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Pharmaceutical Manufacturer</a:t>
          </a:r>
        </a:p>
      </dsp:txBody>
      <dsp:txXfrm>
        <a:off x="3709754" y="4942786"/>
        <a:ext cx="1465926" cy="1268197"/>
      </dsp:txXfrm>
    </dsp:sp>
    <dsp:sp modelId="{DDA0AB14-FBCB-431F-BF07-FA6AE3A21C50}">
      <dsp:nvSpPr>
        <dsp:cNvPr id="0" name=""/>
        <dsp:cNvSpPr/>
      </dsp:nvSpPr>
      <dsp:spPr>
        <a:xfrm>
          <a:off x="1907422" y="3024496"/>
          <a:ext cx="1009512" cy="869828"/>
        </a:xfrm>
        <a:prstGeom prst="hexagon">
          <a:avLst>
            <a:gd name="adj" fmla="val 28900"/>
            <a:gd name="vf" fmla="val 115470"/>
          </a:avLst>
        </a:prstGeom>
        <a:solidFill>
          <a:schemeClr val="accent5">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FF56E4B6-129F-4E6E-A703-8758EA13AA68}">
      <dsp:nvSpPr>
        <dsp:cNvPr id="0" name=""/>
        <dsp:cNvSpPr/>
      </dsp:nvSpPr>
      <dsp:spPr>
        <a:xfrm>
          <a:off x="1326112" y="3461694"/>
          <a:ext cx="2192670" cy="1896917"/>
        </a:xfrm>
        <a:prstGeom prst="hexagon">
          <a:avLst>
            <a:gd name="adj" fmla="val 28570"/>
            <a:gd name="vf" fmla="val 115470"/>
          </a:avLst>
        </a:prstGeom>
        <a:gradFill rotWithShape="0">
          <a:gsLst>
            <a:gs pos="0">
              <a:schemeClr val="accent5">
                <a:hueOff val="-7947101"/>
                <a:satOff val="31849"/>
                <a:lumOff val="6902"/>
                <a:alphaOff val="0"/>
                <a:shade val="51000"/>
                <a:satMod val="130000"/>
              </a:schemeClr>
            </a:gs>
            <a:gs pos="80000">
              <a:schemeClr val="accent5">
                <a:hueOff val="-7947101"/>
                <a:satOff val="31849"/>
                <a:lumOff val="6902"/>
                <a:alphaOff val="0"/>
                <a:shade val="93000"/>
                <a:satMod val="130000"/>
              </a:schemeClr>
            </a:gs>
            <a:gs pos="100000">
              <a:schemeClr val="accent5">
                <a:hueOff val="-7947101"/>
                <a:satOff val="31849"/>
                <a:lumOff val="6902"/>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Biomedical  Engineer </a:t>
          </a:r>
        </a:p>
      </dsp:txBody>
      <dsp:txXfrm>
        <a:off x="1689484" y="3776054"/>
        <a:ext cx="1465926" cy="1268197"/>
      </dsp:txXfrm>
    </dsp:sp>
    <dsp:sp modelId="{7625D61A-0632-479C-81E3-AAE03E4163D3}">
      <dsp:nvSpPr>
        <dsp:cNvPr id="0" name=""/>
        <dsp:cNvSpPr/>
      </dsp:nvSpPr>
      <dsp:spPr>
        <a:xfrm>
          <a:off x="1326112" y="1164121"/>
          <a:ext cx="2192670" cy="1896917"/>
        </a:xfrm>
        <a:prstGeom prst="hexagon">
          <a:avLst>
            <a:gd name="adj" fmla="val 28570"/>
            <a:gd name="vf" fmla="val 115470"/>
          </a:avLst>
        </a:prstGeom>
        <a:gradFill rotWithShape="0">
          <a:gsLst>
            <a:gs pos="0">
              <a:schemeClr val="accent5">
                <a:hueOff val="-9933876"/>
                <a:satOff val="39811"/>
                <a:lumOff val="8628"/>
                <a:alphaOff val="0"/>
                <a:shade val="51000"/>
                <a:satMod val="130000"/>
              </a:schemeClr>
            </a:gs>
            <a:gs pos="80000">
              <a:schemeClr val="accent5">
                <a:hueOff val="-9933876"/>
                <a:satOff val="39811"/>
                <a:lumOff val="8628"/>
                <a:alphaOff val="0"/>
                <a:shade val="93000"/>
                <a:satMod val="130000"/>
              </a:schemeClr>
            </a:gs>
            <a:gs pos="100000">
              <a:schemeClr val="accent5">
                <a:hueOff val="-9933876"/>
                <a:satOff val="39811"/>
                <a:lumOff val="862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Architect</a:t>
          </a:r>
        </a:p>
      </dsp:txBody>
      <dsp:txXfrm>
        <a:off x="1689484" y="1478481"/>
        <a:ext cx="1465926" cy="1268197"/>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fontAlgn="auto">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fontAlgn="auto">
              <a:spcBef>
                <a:spcPts val="0"/>
              </a:spcBef>
              <a:spcAft>
                <a:spcPts val="0"/>
              </a:spcAft>
              <a:defRPr sz="1300">
                <a:latin typeface="+mn-lt"/>
                <a:cs typeface="+mn-cs"/>
              </a:defRPr>
            </a:lvl1pPr>
          </a:lstStyle>
          <a:p>
            <a:pPr>
              <a:defRPr/>
            </a:pPr>
            <a:fld id="{8CC55555-5FE1-443A-8575-61702C3181CC}" type="datetimeFigureOut">
              <a:rPr lang="en-US"/>
              <a:pPr>
                <a:defRPr/>
              </a:pPr>
              <a:t>1/27/2025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fontAlgn="auto">
              <a:spcBef>
                <a:spcPts val="0"/>
              </a:spcBef>
              <a:spcAft>
                <a:spcPts val="0"/>
              </a:spcAft>
              <a:defRPr sz="13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fontAlgn="auto">
              <a:spcBef>
                <a:spcPts val="0"/>
              </a:spcBef>
              <a:spcAft>
                <a:spcPts val="0"/>
              </a:spcAft>
              <a:defRPr sz="1300">
                <a:latin typeface="+mn-lt"/>
                <a:cs typeface="+mn-cs"/>
              </a:defRPr>
            </a:lvl1pPr>
          </a:lstStyle>
          <a:p>
            <a:pPr>
              <a:defRPr/>
            </a:pPr>
            <a:fld id="{7078C80B-C565-4254-8AFD-228CECE25AC1}"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078C80B-C565-4254-8AFD-228CECE25AC1}" type="slidenum">
              <a:rPr lang="en-US" smtClean="0"/>
              <a:pPr>
                <a:defRPr/>
              </a:pPr>
              <a:t>3</a:t>
            </a:fld>
            <a:endParaRPr lang="en-US"/>
          </a:p>
        </p:txBody>
      </p:sp>
    </p:spTree>
    <p:extLst>
      <p:ext uri="{BB962C8B-B14F-4D97-AF65-F5344CB8AC3E}">
        <p14:creationId xmlns:p14="http://schemas.microsoft.com/office/powerpoint/2010/main" val="1074586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4587E148-C9EF-45FA-15F5-5F91DFB57A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AE178DA-82CD-42AD-AD26-52FD6580A1FF}" type="slidenum">
              <a:rPr lang="en-US" altLang="en-US" sz="1200"/>
              <a:pPr/>
              <a:t>26</a:t>
            </a:fld>
            <a:endParaRPr lang="en-US" altLang="en-US" sz="1200"/>
          </a:p>
        </p:txBody>
      </p:sp>
      <p:sp>
        <p:nvSpPr>
          <p:cNvPr id="5123" name="Rectangle 2">
            <a:extLst>
              <a:ext uri="{FF2B5EF4-FFF2-40B4-BE49-F238E27FC236}">
                <a16:creationId xmlns:a16="http://schemas.microsoft.com/office/drawing/2014/main" id="{B65AF65A-E4CE-E8F4-066C-CF8452886D1D}"/>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2DC30D0F-8248-9000-FEBB-4868706A03FA}"/>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1251DF0-77D0-BF30-F72C-9851B45EE930}"/>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0C9E1BA9-8DFC-8DF6-2658-B63232C0508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74F0A4C1-B8CB-E016-7CAD-4DE85E76BF6F}"/>
              </a:ext>
            </a:extLst>
          </p:cNvPr>
          <p:cNvSpPr>
            <a:spLocks noGrp="1" noChangeArrowheads="1"/>
          </p:cNvSpPr>
          <p:nvPr>
            <p:ph type="sldNum" sz="quarter" idx="12"/>
          </p:nvPr>
        </p:nvSpPr>
        <p:spPr>
          <a:ln/>
        </p:spPr>
        <p:txBody>
          <a:bodyPr/>
          <a:lstStyle>
            <a:lvl1pPr>
              <a:defRPr/>
            </a:lvl1pPr>
          </a:lstStyle>
          <a:p>
            <a:pPr>
              <a:defRPr/>
            </a:pPr>
            <a:fld id="{9D786948-2F5E-4009-91A2-AEDAF3D37E45}" type="slidenum">
              <a:rPr lang="en-US" altLang="en-US"/>
              <a:pPr>
                <a:defRPr/>
              </a:pPr>
              <a:t>‹#›</a:t>
            </a:fld>
            <a:endParaRPr lang="en-US" altLang="en-US"/>
          </a:p>
        </p:txBody>
      </p:sp>
    </p:spTree>
    <p:extLst>
      <p:ext uri="{BB962C8B-B14F-4D97-AF65-F5344CB8AC3E}">
        <p14:creationId xmlns:p14="http://schemas.microsoft.com/office/powerpoint/2010/main" val="18545980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E0F062E0-1B4F-4360-94F4-9F0EBF793B9A}" type="datetimeFigureOut">
              <a:rPr lang="en-US"/>
              <a:pPr>
                <a:defRPr/>
              </a:pPr>
              <a:t>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11242451-00E6-42BB-BF7D-457C8C28CF6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www.technologyreview.com/s/409710/whale-inspired-wind-turbines/" TargetMode="External"/><Relationship Id="rId2" Type="http://schemas.openxmlformats.org/officeDocument/2006/relationships/hyperlink" Target="https://whalepowercorp.wordpress.com/wind-turbines/" TargetMode="Externa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s://www.forbes.com/sites/brucelee/2018/09/03/how-this-new-football-helmet-is-designed-to-protect-the-brain/#527566814a1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massivesci.com/articles/human-regeneration-limbs-axolotl-animal-genome/" TargetMode="External"/><Relationship Id="rId2" Type="http://schemas.openxmlformats.org/officeDocument/2006/relationships/hyperlink" Target="http://bps.energy/biowave"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A5BE6053-C6E7-00E8-CD67-0C406B781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E63AACAA-306B-315C-F8B5-BE3D26FB3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4" name="Picture 2" descr="8,258 Environmental Engineer Illustrations &amp;amp; Clip Art - iStock">
            <a:extLst>
              <a:ext uri="{FF2B5EF4-FFF2-40B4-BE49-F238E27FC236}">
                <a16:creationId xmlns:a16="http://schemas.microsoft.com/office/drawing/2014/main" id="{4910CB81-C465-B4F5-8201-D47624EFB4DC}"/>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 b="3741"/>
          <a:stretch/>
        </p:blipFill>
        <p:spPr bwMode="auto">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a:noFill/>
          <a:extLst>
            <a:ext uri="{909E8E84-426E-40DD-AFC4-6F175D3DCCD1}">
              <a14:hiddenFill xmlns:a14="http://schemas.microsoft.com/office/drawing/2010/main">
                <a:solidFill>
                  <a:srgbClr val="FFFFFF"/>
                </a:solidFill>
              </a14:hiddenFill>
            </a:ext>
          </a:extLst>
        </p:spPr>
      </p:pic>
      <p:sp>
        <p:nvSpPr>
          <p:cNvPr id="5" name="Arc 4">
            <a:extLst>
              <a:ext uri="{FF2B5EF4-FFF2-40B4-BE49-F238E27FC236}">
                <a16:creationId xmlns:a16="http://schemas.microsoft.com/office/drawing/2014/main" id="{CD0AEB09-DFFE-E93F-2065-F24253818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6" name="Picture 8" descr="COEP Sketch.jpg">
            <a:extLst>
              <a:ext uri="{FF2B5EF4-FFF2-40B4-BE49-F238E27FC236}">
                <a16:creationId xmlns:a16="http://schemas.microsoft.com/office/drawing/2014/main" id="{43D16391-D57D-2B85-6025-29C34C2C81D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643" r="12412" b="5"/>
          <a:stretch/>
        </p:blipFill>
        <p:spPr bwMode="auto">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AutoShape 4" descr="5 Economic Indicators That Affect Business Success [2021 Guide]">
            <a:extLst>
              <a:ext uri="{FF2B5EF4-FFF2-40B4-BE49-F238E27FC236}">
                <a16:creationId xmlns:a16="http://schemas.microsoft.com/office/drawing/2014/main" id="{160D9FAC-5AD9-C978-7A79-EF0456386139}"/>
              </a:ext>
            </a:extLst>
          </p:cNvP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latin typeface="Georgia" panose="02040502050405020303" pitchFamily="18" charset="0"/>
            </a:endParaRPr>
          </a:p>
        </p:txBody>
      </p:sp>
      <p:sp>
        <p:nvSpPr>
          <p:cNvPr id="8" name="AutoShape 6" descr="5 Economic Indicators That Affect Business Success [2021 Guide]">
            <a:extLst>
              <a:ext uri="{FF2B5EF4-FFF2-40B4-BE49-F238E27FC236}">
                <a16:creationId xmlns:a16="http://schemas.microsoft.com/office/drawing/2014/main" id="{D65335B8-1EC7-4C1B-4A3B-EC6BBF85A304}"/>
              </a:ext>
            </a:extLst>
          </p:cNvP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latin typeface="Georgia" panose="02040502050405020303" pitchFamily="18" charset="0"/>
            </a:endParaRPr>
          </a:p>
        </p:txBody>
      </p:sp>
      <p:sp>
        <p:nvSpPr>
          <p:cNvPr id="9" name="AutoShape 8" descr="5 Economic Indicators That Affect Business Success [2021 Guide]">
            <a:extLst>
              <a:ext uri="{FF2B5EF4-FFF2-40B4-BE49-F238E27FC236}">
                <a16:creationId xmlns:a16="http://schemas.microsoft.com/office/drawing/2014/main" id="{3B5B4D01-D376-0AAA-796D-73D64192A71B}"/>
              </a:ext>
            </a:extLst>
          </p:cNvP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latin typeface="Georgia" panose="02040502050405020303" pitchFamily="18" charset="0"/>
            </a:endParaRPr>
          </a:p>
        </p:txBody>
      </p:sp>
      <p:sp>
        <p:nvSpPr>
          <p:cNvPr id="11" name="TextBox 10">
            <a:extLst>
              <a:ext uri="{FF2B5EF4-FFF2-40B4-BE49-F238E27FC236}">
                <a16:creationId xmlns:a16="http://schemas.microsoft.com/office/drawing/2014/main" id="{D4135C92-EACC-F5B6-C4B8-88E5F1C2C4EF}"/>
              </a:ext>
            </a:extLst>
          </p:cNvPr>
          <p:cNvSpPr txBox="1"/>
          <p:nvPr/>
        </p:nvSpPr>
        <p:spPr>
          <a:xfrm>
            <a:off x="340010" y="3501008"/>
            <a:ext cx="7832389" cy="2883610"/>
          </a:xfrm>
          <a:prstGeom prst="rect">
            <a:avLst/>
          </a:prstGeom>
          <a:noFill/>
        </p:spPr>
        <p:txBody>
          <a:bodyPr wrap="square" rtlCol="0">
            <a:spAutoFit/>
          </a:bodyPr>
          <a:lstStyle/>
          <a:p>
            <a:pPr marL="0" marR="0">
              <a:lnSpc>
                <a:spcPct val="107000"/>
              </a:lnSpc>
              <a:spcBef>
                <a:spcPts val="0"/>
              </a:spcBef>
              <a:spcAft>
                <a:spcPts val="800"/>
              </a:spcAft>
            </a:pPr>
            <a:r>
              <a:rPr lang="en-US" sz="2400" b="1" kern="100"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a) Biologically inspired technologies: </a:t>
            </a:r>
            <a:r>
              <a:rPr lang="en-US" sz="2400" kern="100"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Case studies of designs in nature and inspired technologies, </a:t>
            </a:r>
            <a:r>
              <a:rPr lang="en-US" sz="2400" kern="100"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Biomemetics</a:t>
            </a:r>
            <a:r>
              <a:rPr lang="en-US" sz="2400" kern="100"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Nature inspired material and mechanisms, Self-healing </a:t>
            </a:r>
            <a:r>
              <a:rPr lang="en-US" sz="2400" kern="100" dirty="0" err="1">
                <a:solidFill>
                  <a:srgbClr val="C00000"/>
                </a:solidFill>
                <a:effectLst/>
                <a:latin typeface="Calibri" panose="020F0502020204030204" pitchFamily="34" charset="0"/>
                <a:ea typeface="Calibri" panose="020F0502020204030204" pitchFamily="34" charset="0"/>
                <a:cs typeface="Calibri" panose="020F0502020204030204" pitchFamily="34" charset="0"/>
              </a:rPr>
              <a:t>Bioconcrete</a:t>
            </a:r>
            <a:r>
              <a:rPr lang="en-US" sz="2400" kern="100"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Biomining, Algorithms in nature</a:t>
            </a:r>
            <a:endParaRPr lang="en-US" sz="2400" kern="100" dirty="0">
              <a:solidFill>
                <a:srgbClr val="C00000"/>
              </a:solidFill>
              <a:effectLst/>
              <a:latin typeface="Calibri" panose="020F0502020204030204" pitchFamily="34" charset="0"/>
              <a:ea typeface="Calibri" panose="020F0502020204030204" pitchFamily="34" charset="0"/>
              <a:cs typeface="Mangal" panose="02040503050203030202" pitchFamily="18" charset="0"/>
            </a:endParaRPr>
          </a:p>
          <a:p>
            <a:r>
              <a:rPr lang="en-US" sz="2400" b="1" dirty="0">
                <a:solidFill>
                  <a:srgbClr val="C00000"/>
                </a:solidFill>
                <a:effectLst/>
                <a:latin typeface="Calibri" panose="020F0502020204030204" pitchFamily="34" charset="0"/>
                <a:ea typeface="Calibri" panose="020F0502020204030204" pitchFamily="34" charset="0"/>
              </a:rPr>
              <a:t>b) Contribution of engineering in biological domain: </a:t>
            </a:r>
            <a:r>
              <a:rPr lang="en-US" sz="2400" dirty="0">
                <a:solidFill>
                  <a:srgbClr val="C00000"/>
                </a:solidFill>
                <a:effectLst/>
                <a:latin typeface="Calibri" panose="020F0502020204030204" pitchFamily="34" charset="0"/>
                <a:ea typeface="Calibri" panose="020F0502020204030204" pitchFamily="34" charset="0"/>
              </a:rPr>
              <a:t>Contribution of Microscope, Imaging techniques, Bio-medical Instruments, Mechanisms (Ergonomics)</a:t>
            </a:r>
            <a:endParaRPr lang="en-US" sz="2400" b="1" dirty="0">
              <a:solidFill>
                <a:srgbClr val="C00000"/>
              </a:solidFill>
            </a:endParaRPr>
          </a:p>
        </p:txBody>
      </p:sp>
      <p:sp>
        <p:nvSpPr>
          <p:cNvPr id="12" name="TextBox 11">
            <a:extLst>
              <a:ext uri="{FF2B5EF4-FFF2-40B4-BE49-F238E27FC236}">
                <a16:creationId xmlns:a16="http://schemas.microsoft.com/office/drawing/2014/main" id="{56D3DD0D-ECC2-4245-C87F-497387C201AF}"/>
              </a:ext>
            </a:extLst>
          </p:cNvPr>
          <p:cNvSpPr txBox="1"/>
          <p:nvPr/>
        </p:nvSpPr>
        <p:spPr>
          <a:xfrm>
            <a:off x="390814" y="365932"/>
            <a:ext cx="5874772" cy="954107"/>
          </a:xfrm>
          <a:prstGeom prst="rect">
            <a:avLst/>
          </a:prstGeom>
          <a:noFill/>
        </p:spPr>
        <p:txBody>
          <a:bodyPr wrap="square" rtlCol="0">
            <a:spAutoFit/>
          </a:bodyPr>
          <a:lstStyle/>
          <a:p>
            <a:r>
              <a:rPr lang="en-US" sz="2800" b="1" dirty="0">
                <a:solidFill>
                  <a:srgbClr val="7030A0"/>
                </a:solidFill>
              </a:rPr>
              <a:t>Biology for Engineers (BFE)</a:t>
            </a:r>
          </a:p>
          <a:p>
            <a:r>
              <a:rPr lang="en-US" sz="2800" b="1" dirty="0">
                <a:solidFill>
                  <a:srgbClr val="7030A0"/>
                </a:solidFill>
              </a:rPr>
              <a:t>NEP Complied Syllabus</a:t>
            </a:r>
          </a:p>
        </p:txBody>
      </p:sp>
      <p:pic>
        <p:nvPicPr>
          <p:cNvPr id="13" name="Picture 12" descr="Logo&#10;&#10;Description automatically generated">
            <a:extLst>
              <a:ext uri="{FF2B5EF4-FFF2-40B4-BE49-F238E27FC236}">
                <a16:creationId xmlns:a16="http://schemas.microsoft.com/office/drawing/2014/main" id="{430818EE-5674-4076-7017-AA6C817CA51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58671" y="370251"/>
            <a:ext cx="1611218" cy="1916266"/>
          </a:xfrm>
          <a:prstGeom prst="rect">
            <a:avLst/>
          </a:prstGeom>
        </p:spPr>
      </p:pic>
      <p:sp>
        <p:nvSpPr>
          <p:cNvPr id="14" name="TextBox 13">
            <a:extLst>
              <a:ext uri="{FF2B5EF4-FFF2-40B4-BE49-F238E27FC236}">
                <a16:creationId xmlns:a16="http://schemas.microsoft.com/office/drawing/2014/main" id="{692522CC-E201-84A2-7A73-F744F4471610}"/>
              </a:ext>
            </a:extLst>
          </p:cNvPr>
          <p:cNvSpPr txBox="1"/>
          <p:nvPr/>
        </p:nvSpPr>
        <p:spPr>
          <a:xfrm>
            <a:off x="404875" y="1588182"/>
            <a:ext cx="5856732" cy="1840818"/>
          </a:xfrm>
          <a:prstGeom prst="rect">
            <a:avLst/>
          </a:prstGeom>
        </p:spPr>
        <p:txBody>
          <a:bodyPr vert="horz" lIns="91440" tIns="45720" rIns="91440" bIns="45720" rtlCol="0" anchor="ctr">
            <a:normAutofit/>
          </a:bodyPr>
          <a:lstStyle/>
          <a:p>
            <a:pPr marL="0" marR="0">
              <a:lnSpc>
                <a:spcPct val="107000"/>
              </a:lnSpc>
              <a:spcBef>
                <a:spcPts val="0"/>
              </a:spcBef>
              <a:spcAft>
                <a:spcPts val="800"/>
              </a:spcAft>
            </a:pPr>
            <a:r>
              <a:rPr lang="en-US" sz="2800" b="1" kern="100" dirty="0">
                <a:solidFill>
                  <a:srgbClr val="00B050"/>
                </a:solidFill>
                <a:effectLst/>
                <a:latin typeface="Calibri" panose="020F0502020204030204" pitchFamily="34" charset="0"/>
                <a:ea typeface="Calibri" panose="020F0502020204030204" pitchFamily="34" charset="0"/>
                <a:cs typeface="Calibri" panose="020F0502020204030204" pitchFamily="34" charset="0"/>
              </a:rPr>
              <a:t>Crosstalk of Biology and Engineering</a:t>
            </a:r>
            <a:endParaRPr lang="en-US" sz="2800" kern="100" dirty="0">
              <a:solidFill>
                <a:srgbClr val="00B050"/>
              </a:solidFill>
              <a:effectLst/>
              <a:latin typeface="Calibri" panose="020F0502020204030204" pitchFamily="34" charset="0"/>
              <a:ea typeface="Calibri" panose="020F0502020204030204" pitchFamily="34" charset="0"/>
              <a:cs typeface="Mangal" panose="02040503050203030202" pitchFamily="18" charset="0"/>
            </a:endParaRPr>
          </a:p>
          <a:p>
            <a:pPr>
              <a:lnSpc>
                <a:spcPct val="90000"/>
              </a:lnSpc>
              <a:spcBef>
                <a:spcPct val="0"/>
              </a:spcBef>
              <a:spcAft>
                <a:spcPts val="600"/>
              </a:spcAft>
            </a:pPr>
            <a:r>
              <a:rPr lang="en-US" sz="2400" b="1" spc="10" dirty="0">
                <a:solidFill>
                  <a:srgbClr val="00B050"/>
                </a:solidFill>
              </a:rPr>
              <a:t>----------------------------------------------</a:t>
            </a:r>
          </a:p>
          <a:p>
            <a:pPr>
              <a:lnSpc>
                <a:spcPct val="90000"/>
              </a:lnSpc>
              <a:spcBef>
                <a:spcPct val="0"/>
              </a:spcBef>
              <a:spcAft>
                <a:spcPts val="600"/>
              </a:spcAft>
            </a:pPr>
            <a:r>
              <a:rPr lang="en-US" sz="2400" b="1" spc="10" dirty="0">
                <a:solidFill>
                  <a:srgbClr val="00B050"/>
                </a:solidFill>
              </a:rPr>
              <a:t>UNIT 1</a:t>
            </a:r>
          </a:p>
        </p:txBody>
      </p:sp>
    </p:spTree>
    <p:extLst>
      <p:ext uri="{BB962C8B-B14F-4D97-AF65-F5344CB8AC3E}">
        <p14:creationId xmlns:p14="http://schemas.microsoft.com/office/powerpoint/2010/main" val="2235132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878E89-4824-4A7C-1A7D-A9DFE8DF2ADE}"/>
              </a:ext>
            </a:extLst>
          </p:cNvPr>
          <p:cNvPicPr>
            <a:picLocks noChangeAspect="1"/>
          </p:cNvPicPr>
          <p:nvPr/>
        </p:nvPicPr>
        <p:blipFill>
          <a:blip r:embed="rId2"/>
          <a:stretch>
            <a:fillRect/>
          </a:stretch>
        </p:blipFill>
        <p:spPr>
          <a:xfrm>
            <a:off x="0" y="1358469"/>
            <a:ext cx="9144000" cy="4141061"/>
          </a:xfrm>
          <a:prstGeom prst="rect">
            <a:avLst/>
          </a:prstGeom>
        </p:spPr>
      </p:pic>
    </p:spTree>
    <p:extLst>
      <p:ext uri="{BB962C8B-B14F-4D97-AF65-F5344CB8AC3E}">
        <p14:creationId xmlns:p14="http://schemas.microsoft.com/office/powerpoint/2010/main" val="1932360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ure 1">
            <a:extLst>
              <a:ext uri="{FF2B5EF4-FFF2-40B4-BE49-F238E27FC236}">
                <a16:creationId xmlns:a16="http://schemas.microsoft.com/office/drawing/2014/main" id="{D0C35AB7-B69A-5CA5-940A-6A951DC921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3" y="44624"/>
            <a:ext cx="5184576" cy="513916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0D18C82D-9D81-2589-3B75-FE9185C08793}"/>
              </a:ext>
            </a:extLst>
          </p:cNvPr>
          <p:cNvSpPr/>
          <p:nvPr/>
        </p:nvSpPr>
        <p:spPr>
          <a:xfrm>
            <a:off x="6704137" y="260648"/>
            <a:ext cx="2260351" cy="16561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Nature Inspired Technologies</a:t>
            </a:r>
          </a:p>
        </p:txBody>
      </p:sp>
      <p:pic>
        <p:nvPicPr>
          <p:cNvPr id="2050" name="Picture 2" descr="Bioinformatics and Bio-Inspired Engineering | Cademix Institute of  Technology">
            <a:extLst>
              <a:ext uri="{FF2B5EF4-FFF2-40B4-BE49-F238E27FC236}">
                <a16:creationId xmlns:a16="http://schemas.microsoft.com/office/drawing/2014/main" id="{7502478F-BFA5-5BE5-831A-A670A82B1F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183787"/>
            <a:ext cx="9144000" cy="1717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0474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E7D7DB2-6A0F-B346-0AA1-E1D182B49E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816" y="476673"/>
            <a:ext cx="8306656" cy="6043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1302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068BF2-B9D6-D7C6-5278-FF523A179511}"/>
              </a:ext>
            </a:extLst>
          </p:cNvPr>
          <p:cNvSpPr txBox="1"/>
          <p:nvPr/>
        </p:nvSpPr>
        <p:spPr>
          <a:xfrm>
            <a:off x="251520" y="476672"/>
            <a:ext cx="8640960" cy="2308324"/>
          </a:xfrm>
          <a:prstGeom prst="rect">
            <a:avLst/>
          </a:prstGeom>
          <a:noFill/>
        </p:spPr>
        <p:txBody>
          <a:bodyPr wrap="square">
            <a:spAutoFit/>
          </a:bodyPr>
          <a:lstStyle/>
          <a:p>
            <a:r>
              <a:rPr lang="en-US" b="0" i="0" dirty="0">
                <a:solidFill>
                  <a:srgbClr val="2D2D2D"/>
                </a:solidFill>
                <a:effectLst/>
                <a:highlight>
                  <a:srgbClr val="00FFFF"/>
                </a:highlight>
                <a:latin typeface="Arial" panose="020B0604020202020204" pitchFamily="34" charset="0"/>
                <a:cs typeface="Arial" panose="020B0604020202020204" pitchFamily="34" charset="0"/>
              </a:rPr>
              <a:t>Biomimicry engineering </a:t>
            </a:r>
            <a:r>
              <a:rPr lang="en-US" b="0" i="0" dirty="0">
                <a:solidFill>
                  <a:srgbClr val="2D2D2D"/>
                </a:solidFill>
                <a:effectLst/>
                <a:latin typeface="Arial" panose="020B0604020202020204" pitchFamily="34" charset="0"/>
                <a:cs typeface="Arial" panose="020B0604020202020204" pitchFamily="34" charset="0"/>
              </a:rPr>
              <a:t>is the practice of creating designs based on structures and sequences from the Earth's natural world, including its plants, animals and geographies. These designs allow engineers and other professionals to create sustainable infrastructure and equipment for everyday activities and habitation processes, like public transportation and water sanitation. The engineers involved in these types of projects often collaborate with biologists. Biologists identify natural processes that are efficient and sustainable, then engineers implement these processes into building or tool designs.</a:t>
            </a:r>
            <a:endParaRPr lang="en-US"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9DEAC37D-3AA1-307A-F9F2-C6DCF328980B}"/>
              </a:ext>
            </a:extLst>
          </p:cNvPr>
          <p:cNvSpPr txBox="1"/>
          <p:nvPr/>
        </p:nvSpPr>
        <p:spPr>
          <a:xfrm>
            <a:off x="272064" y="3208245"/>
            <a:ext cx="4572000" cy="3139321"/>
          </a:xfrm>
          <a:prstGeom prst="rect">
            <a:avLst/>
          </a:prstGeom>
          <a:noFill/>
        </p:spPr>
        <p:txBody>
          <a:bodyPr wrap="square">
            <a:spAutoFit/>
          </a:bodyPr>
          <a:lstStyle>
            <a:defPPr>
              <a:defRPr lang="en-US"/>
            </a:defPPr>
            <a:lvl1pPr>
              <a:defRPr b="0" i="0">
                <a:solidFill>
                  <a:srgbClr val="2D2D2D"/>
                </a:solidFill>
                <a:effectLst/>
                <a:latin typeface="Arial" panose="020B0604020202020204" pitchFamily="34" charset="0"/>
                <a:cs typeface="Arial" panose="020B0604020202020204" pitchFamily="34" charset="0"/>
              </a:defRPr>
            </a:lvl1pPr>
          </a:lstStyle>
          <a:p>
            <a:pPr marL="285750" indent="-285750">
              <a:buFont typeface="Wingdings" panose="05000000000000000000" pitchFamily="2" charset="2"/>
              <a:buChar char="q"/>
            </a:pPr>
            <a:r>
              <a:rPr lang="en-US" dirty="0"/>
              <a:t>Improving performance through studying natural processes</a:t>
            </a:r>
          </a:p>
          <a:p>
            <a:pPr marL="285750" indent="-285750">
              <a:buFont typeface="Wingdings" panose="05000000000000000000" pitchFamily="2" charset="2"/>
              <a:buChar char="q"/>
            </a:pPr>
            <a:r>
              <a:rPr lang="en-US" dirty="0"/>
              <a:t>Reducing costs by using energy and resources more efficiently</a:t>
            </a:r>
          </a:p>
          <a:p>
            <a:pPr marL="285750" indent="-285750">
              <a:buFont typeface="Wingdings" panose="05000000000000000000" pitchFamily="2" charset="2"/>
              <a:buChar char="q"/>
            </a:pPr>
            <a:r>
              <a:rPr lang="en-US" dirty="0"/>
              <a:t>Creating opportunities for collaboration between STEM professionals</a:t>
            </a:r>
          </a:p>
          <a:p>
            <a:pPr marL="285750" indent="-285750">
              <a:buFont typeface="Wingdings" panose="05000000000000000000" pitchFamily="2" charset="2"/>
              <a:buChar char="q"/>
            </a:pPr>
            <a:r>
              <a:rPr lang="en-US" dirty="0"/>
              <a:t>Providing solutions to common needs by developing innovative designs</a:t>
            </a:r>
          </a:p>
          <a:p>
            <a:pPr marL="285750" indent="-285750">
              <a:buFont typeface="Wingdings" panose="05000000000000000000" pitchFamily="2" charset="2"/>
              <a:buChar char="q"/>
            </a:pPr>
            <a:r>
              <a:rPr lang="en-US" dirty="0"/>
              <a:t>Enhancing an organization's brand using environmentally conscious practices</a:t>
            </a:r>
          </a:p>
        </p:txBody>
      </p:sp>
    </p:spTree>
    <p:extLst>
      <p:ext uri="{BB962C8B-B14F-4D97-AF65-F5344CB8AC3E}">
        <p14:creationId xmlns:p14="http://schemas.microsoft.com/office/powerpoint/2010/main" val="3063981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D581CC55-F992-418B-60CD-A04C8ADB4579}"/>
              </a:ext>
            </a:extLst>
          </p:cNvPr>
          <p:cNvGraphicFramePr/>
          <p:nvPr>
            <p:extLst>
              <p:ext uri="{D42A27DB-BD31-4B8C-83A1-F6EECF244321}">
                <p14:modId xmlns:p14="http://schemas.microsoft.com/office/powerpoint/2010/main" val="3069269734"/>
              </p:ext>
            </p:extLst>
          </p:nvPr>
        </p:nvGraphicFramePr>
        <p:xfrm>
          <a:off x="-1260648" y="144016"/>
          <a:ext cx="8876099" cy="65253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654F3854-5996-43CB-B2E3-B3709D206992}"/>
              </a:ext>
            </a:extLst>
          </p:cNvPr>
          <p:cNvSpPr txBox="1"/>
          <p:nvPr/>
        </p:nvSpPr>
        <p:spPr>
          <a:xfrm>
            <a:off x="6165733" y="2348880"/>
            <a:ext cx="2899435" cy="1754326"/>
          </a:xfrm>
          <a:prstGeom prst="rect">
            <a:avLst/>
          </a:prstGeom>
          <a:noFill/>
        </p:spPr>
        <p:txBody>
          <a:bodyPr wrap="square">
            <a:spAutoFit/>
          </a:bodyPr>
          <a:lstStyle/>
          <a:p>
            <a:r>
              <a:rPr lang="en-US" b="1" dirty="0"/>
              <a:t>50 Examples of Biomimicry:</a:t>
            </a:r>
          </a:p>
          <a:p>
            <a:endParaRPr lang="en-US" dirty="0"/>
          </a:p>
          <a:p>
            <a:r>
              <a:rPr lang="en-US" dirty="0"/>
              <a:t>https://www.learnbiomimicry.com/blog/best-biomimicry-examples</a:t>
            </a:r>
          </a:p>
        </p:txBody>
      </p:sp>
    </p:spTree>
    <p:extLst>
      <p:ext uri="{BB962C8B-B14F-4D97-AF65-F5344CB8AC3E}">
        <p14:creationId xmlns:p14="http://schemas.microsoft.com/office/powerpoint/2010/main" val="3026625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B1CA91E-1990-0E26-3126-C69C2993EF51}"/>
              </a:ext>
            </a:extLst>
          </p:cNvPr>
          <p:cNvSpPr txBox="1"/>
          <p:nvPr/>
        </p:nvSpPr>
        <p:spPr>
          <a:xfrm>
            <a:off x="467544" y="332656"/>
            <a:ext cx="4320480" cy="2862322"/>
          </a:xfrm>
          <a:prstGeom prst="rect">
            <a:avLst/>
          </a:prstGeom>
          <a:noFill/>
        </p:spPr>
        <p:txBody>
          <a:bodyPr wrap="square">
            <a:spAutoFit/>
          </a:bodyPr>
          <a:lstStyle/>
          <a:p>
            <a:r>
              <a:rPr lang="en-US" b="1" i="0" dirty="0">
                <a:solidFill>
                  <a:srgbClr val="D7006D"/>
                </a:solidFill>
                <a:effectLst/>
                <a:latin typeface="Lohit Marathi"/>
              </a:rPr>
              <a:t>Leonardo da Vinci’s Flying Machine – 1485</a:t>
            </a:r>
          </a:p>
          <a:p>
            <a:r>
              <a:rPr lang="en-US" b="0" i="0" dirty="0">
                <a:solidFill>
                  <a:srgbClr val="263746"/>
                </a:solidFill>
                <a:effectLst/>
                <a:latin typeface="Red Hat Text"/>
              </a:rPr>
              <a:t>Well over 500 years ago, Leonardo da Vinci was developing plans for a flying machine. With nothing remotely similar in circulation, his inspiration had to come from the world around him. Mimicking the shapes of </a:t>
            </a:r>
            <a:r>
              <a:rPr lang="en-US" b="0" i="0" u="none" strike="noStrike" dirty="0">
                <a:solidFill>
                  <a:srgbClr val="D7006D"/>
                </a:solidFill>
                <a:effectLst/>
                <a:latin typeface="Red Hat Text"/>
              </a:rPr>
              <a:t>bird and bat wings</a:t>
            </a:r>
            <a:r>
              <a:rPr lang="en-US" b="0" i="0" dirty="0">
                <a:solidFill>
                  <a:srgbClr val="263746"/>
                </a:solidFill>
                <a:effectLst/>
                <a:latin typeface="Red Hat Text"/>
              </a:rPr>
              <a:t>, he was able to design a concept that, while ineffective, would inspire others for hundreds of years to come.</a:t>
            </a:r>
            <a:endParaRPr lang="en-US" dirty="0"/>
          </a:p>
        </p:txBody>
      </p:sp>
      <p:sp>
        <p:nvSpPr>
          <p:cNvPr id="6" name="TextBox 5">
            <a:extLst>
              <a:ext uri="{FF2B5EF4-FFF2-40B4-BE49-F238E27FC236}">
                <a16:creationId xmlns:a16="http://schemas.microsoft.com/office/drawing/2014/main" id="{6D6F20FD-FCCB-FF40-2079-B5336E562799}"/>
              </a:ext>
            </a:extLst>
          </p:cNvPr>
          <p:cNvSpPr txBox="1"/>
          <p:nvPr/>
        </p:nvSpPr>
        <p:spPr>
          <a:xfrm>
            <a:off x="4548622" y="3109024"/>
            <a:ext cx="4451362" cy="3416320"/>
          </a:xfrm>
          <a:prstGeom prst="rect">
            <a:avLst/>
          </a:prstGeom>
          <a:noFill/>
        </p:spPr>
        <p:txBody>
          <a:bodyPr wrap="square">
            <a:spAutoFit/>
          </a:bodyPr>
          <a:lstStyle/>
          <a:p>
            <a:pPr algn="r"/>
            <a:r>
              <a:rPr lang="en-US" b="1" i="0" dirty="0">
                <a:solidFill>
                  <a:srgbClr val="D7006D"/>
                </a:solidFill>
                <a:effectLst/>
                <a:latin typeface="Red Hat Display"/>
              </a:rPr>
              <a:t>Camouflage – 1890</a:t>
            </a:r>
          </a:p>
          <a:p>
            <a:pPr algn="r"/>
            <a:r>
              <a:rPr lang="en-US" b="0" i="0" dirty="0">
                <a:solidFill>
                  <a:srgbClr val="263746"/>
                </a:solidFill>
                <a:effectLst/>
                <a:latin typeface="Red Hat Text"/>
              </a:rPr>
              <a:t>Sir Edward Poulton, a British zoologist and early adopter of Darwinism, believed that animals mimicked their environments for safety and proposed this as </a:t>
            </a:r>
            <a:r>
              <a:rPr lang="en-US" b="0" i="0" u="none" strike="noStrike" dirty="0">
                <a:solidFill>
                  <a:srgbClr val="D7006D"/>
                </a:solidFill>
                <a:effectLst/>
                <a:latin typeface="Red Hat Text"/>
              </a:rPr>
              <a:t>proof for natural selection</a:t>
            </a:r>
            <a:r>
              <a:rPr lang="en-US" b="0" i="0" dirty="0">
                <a:solidFill>
                  <a:srgbClr val="263746"/>
                </a:solidFill>
                <a:effectLst/>
                <a:latin typeface="Red Hat Text"/>
              </a:rPr>
              <a:t>. In his 1890 publication, </a:t>
            </a:r>
            <a:r>
              <a:rPr lang="en-US" b="0" i="1" dirty="0">
                <a:solidFill>
                  <a:srgbClr val="263746"/>
                </a:solidFill>
                <a:effectLst/>
                <a:latin typeface="Red Hat Text"/>
              </a:rPr>
              <a:t>The </a:t>
            </a:r>
            <a:r>
              <a:rPr lang="en-US" b="0" i="1" dirty="0" err="1">
                <a:solidFill>
                  <a:srgbClr val="263746"/>
                </a:solidFill>
                <a:effectLst/>
                <a:latin typeface="Red Hat Text"/>
              </a:rPr>
              <a:t>Colours</a:t>
            </a:r>
            <a:r>
              <a:rPr lang="en-US" b="0" i="1" dirty="0">
                <a:solidFill>
                  <a:srgbClr val="263746"/>
                </a:solidFill>
                <a:effectLst/>
                <a:latin typeface="Red Hat Text"/>
              </a:rPr>
              <a:t> of Animals</a:t>
            </a:r>
            <a:r>
              <a:rPr lang="en-US" b="0" i="0" dirty="0">
                <a:solidFill>
                  <a:srgbClr val="263746"/>
                </a:solidFill>
                <a:effectLst/>
                <a:latin typeface="Red Hat Text"/>
              </a:rPr>
              <a:t>, he describes this theory and suggests how humans could harness this same technology. While camouflage has changed and improved over the years, most of its many interpretations have been borrowed from nature.</a:t>
            </a:r>
          </a:p>
        </p:txBody>
      </p:sp>
      <p:pic>
        <p:nvPicPr>
          <p:cNvPr id="7170" name="Picture 2" descr="Leonardo da Vinci's Flying Machines - Digital lessons - Mozaik Digital  Education and Learning">
            <a:extLst>
              <a:ext uri="{FF2B5EF4-FFF2-40B4-BE49-F238E27FC236}">
                <a16:creationId xmlns:a16="http://schemas.microsoft.com/office/drawing/2014/main" id="{42274203-5793-49B2-B4F9-7A6EC33FBC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3994" y="476672"/>
            <a:ext cx="4087972" cy="2304256"/>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Bioinspired Dynamic Camouflage from Colloidal Nanocrystals Embedded  Electrochromics | Nano Letters">
            <a:extLst>
              <a:ext uri="{FF2B5EF4-FFF2-40B4-BE49-F238E27FC236}">
                <a16:creationId xmlns:a16="http://schemas.microsoft.com/office/drawing/2014/main" id="{B68D569F-E420-450C-CB26-C5352D5B55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769" y="3629553"/>
            <a:ext cx="4045853" cy="2751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3884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01FFC48-4AA4-F83A-F6CD-51C578F8F3A3}"/>
              </a:ext>
            </a:extLst>
          </p:cNvPr>
          <p:cNvSpPr txBox="1"/>
          <p:nvPr/>
        </p:nvSpPr>
        <p:spPr>
          <a:xfrm>
            <a:off x="251520" y="404664"/>
            <a:ext cx="3960440" cy="3139321"/>
          </a:xfrm>
          <a:prstGeom prst="rect">
            <a:avLst/>
          </a:prstGeom>
          <a:noFill/>
        </p:spPr>
        <p:txBody>
          <a:bodyPr wrap="square">
            <a:spAutoFit/>
          </a:bodyPr>
          <a:lstStyle/>
          <a:p>
            <a:pPr algn="l"/>
            <a:r>
              <a:rPr lang="en-US" b="1" i="0" dirty="0">
                <a:solidFill>
                  <a:srgbClr val="D7006D"/>
                </a:solidFill>
                <a:effectLst/>
                <a:latin typeface="Red Hat Display"/>
              </a:rPr>
              <a:t>Velcro – 1941</a:t>
            </a:r>
          </a:p>
          <a:p>
            <a:pPr algn="l"/>
            <a:r>
              <a:rPr lang="en-US" b="0" i="0" dirty="0">
                <a:solidFill>
                  <a:srgbClr val="263746"/>
                </a:solidFill>
                <a:effectLst/>
                <a:latin typeface="Lohit Marathi"/>
              </a:rPr>
              <a:t>George de </a:t>
            </a:r>
            <a:r>
              <a:rPr lang="en-US" b="0" i="0" dirty="0" err="1">
                <a:solidFill>
                  <a:srgbClr val="263746"/>
                </a:solidFill>
                <a:effectLst/>
                <a:latin typeface="Lohit Marathi"/>
              </a:rPr>
              <a:t>Mestral</a:t>
            </a:r>
            <a:r>
              <a:rPr lang="en-US" b="0" i="0" dirty="0">
                <a:solidFill>
                  <a:srgbClr val="263746"/>
                </a:solidFill>
                <a:effectLst/>
                <a:latin typeface="Lohit Marathi"/>
              </a:rPr>
              <a:t>, a Swiss engineer, turned an inconvenience into an opportunity while out on a hunting trip in the early 1940s. While walking through the hills, he noticed </a:t>
            </a:r>
            <a:r>
              <a:rPr lang="en-US" b="0" i="0" u="none" strike="noStrike" dirty="0">
                <a:solidFill>
                  <a:srgbClr val="D7006D"/>
                </a:solidFill>
                <a:effectLst/>
                <a:latin typeface="Lohit Marathi"/>
              </a:rPr>
              <a:t>cocklebur seed capsules</a:t>
            </a:r>
            <a:r>
              <a:rPr lang="en-US" b="0" i="0" dirty="0">
                <a:solidFill>
                  <a:srgbClr val="263746"/>
                </a:solidFill>
                <a:effectLst/>
                <a:latin typeface="Lohit Marathi"/>
              </a:rPr>
              <a:t> sticking to his clothing as he walked past. After closer inspection of the burs and their hooks, he developed and patented the </a:t>
            </a:r>
            <a:r>
              <a:rPr lang="en-US" b="0" i="0" u="none" strike="noStrike" dirty="0">
                <a:solidFill>
                  <a:srgbClr val="D7006D"/>
                </a:solidFill>
                <a:effectLst/>
                <a:latin typeface="Lohit Marathi"/>
              </a:rPr>
              <a:t>hook-and-loop</a:t>
            </a:r>
            <a:r>
              <a:rPr lang="en-US" b="0" i="0" dirty="0">
                <a:solidFill>
                  <a:srgbClr val="263746"/>
                </a:solidFill>
                <a:effectLst/>
                <a:latin typeface="Lohit Marathi"/>
              </a:rPr>
              <a:t> design currently known as Velcro.</a:t>
            </a:r>
          </a:p>
        </p:txBody>
      </p:sp>
      <p:sp>
        <p:nvSpPr>
          <p:cNvPr id="7" name="TextBox 6">
            <a:extLst>
              <a:ext uri="{FF2B5EF4-FFF2-40B4-BE49-F238E27FC236}">
                <a16:creationId xmlns:a16="http://schemas.microsoft.com/office/drawing/2014/main" id="{A8DE1C0A-DE16-A1AA-AD39-FC911CD71199}"/>
              </a:ext>
            </a:extLst>
          </p:cNvPr>
          <p:cNvSpPr txBox="1"/>
          <p:nvPr/>
        </p:nvSpPr>
        <p:spPr>
          <a:xfrm>
            <a:off x="4211960" y="3532726"/>
            <a:ext cx="4572000" cy="3139321"/>
          </a:xfrm>
          <a:prstGeom prst="rect">
            <a:avLst/>
          </a:prstGeom>
          <a:noFill/>
        </p:spPr>
        <p:txBody>
          <a:bodyPr wrap="square">
            <a:spAutoFit/>
          </a:bodyPr>
          <a:lstStyle/>
          <a:p>
            <a:pPr algn="l"/>
            <a:r>
              <a:rPr lang="en-US" b="1" i="0" dirty="0">
                <a:solidFill>
                  <a:srgbClr val="D7006D"/>
                </a:solidFill>
                <a:effectLst/>
                <a:latin typeface="Red Hat Display"/>
              </a:rPr>
              <a:t>“Passive” Air Conditioning – 1996</a:t>
            </a:r>
          </a:p>
          <a:p>
            <a:pPr algn="l"/>
            <a:r>
              <a:rPr lang="en-US" b="0" i="0" dirty="0">
                <a:solidFill>
                  <a:srgbClr val="263746"/>
                </a:solidFill>
                <a:effectLst/>
                <a:latin typeface="Lohit Marathi"/>
              </a:rPr>
              <a:t>Operational for over 20 years now, the Eastgate Complex in Harare, Zimbabwe has been a leader in building cooling technology since it’s conception. </a:t>
            </a:r>
            <a:r>
              <a:rPr lang="en-US" b="0" i="0" u="none" strike="noStrike" dirty="0">
                <a:solidFill>
                  <a:srgbClr val="D7006D"/>
                </a:solidFill>
                <a:effectLst/>
                <a:latin typeface="Lohit Marathi"/>
              </a:rPr>
              <a:t>Designed after a termite mound</a:t>
            </a:r>
            <a:r>
              <a:rPr lang="en-US" b="0" i="0" dirty="0">
                <a:solidFill>
                  <a:srgbClr val="263746"/>
                </a:solidFill>
                <a:effectLst/>
                <a:latin typeface="Lohit Marathi"/>
              </a:rPr>
              <a:t>, the building using “passive cooling” technology to consume 90% less energy than modern air conditioning. Further research has shown that other models may be even more effective and prototypes are currently being designed.</a:t>
            </a:r>
          </a:p>
        </p:txBody>
      </p:sp>
      <p:pic>
        <p:nvPicPr>
          <p:cNvPr id="5122" name="Picture 2" descr="Nature inspired velcro invention -- be thankful to those darn Burrs. |  Biomimicry examples, Creativity and innovation, Nature inspiration">
            <a:extLst>
              <a:ext uri="{FF2B5EF4-FFF2-40B4-BE49-F238E27FC236}">
                <a16:creationId xmlns:a16="http://schemas.microsoft.com/office/drawing/2014/main" id="{D2A16D50-73B9-D99F-6485-01D7F44B4A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9858" y="692696"/>
            <a:ext cx="4482075" cy="2248107"/>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ow Termite mounds Cool Itself | Biomemetic architecture: Zimbabwe Eastgate  center - YouTube">
            <a:extLst>
              <a:ext uri="{FF2B5EF4-FFF2-40B4-BE49-F238E27FC236}">
                <a16:creationId xmlns:a16="http://schemas.microsoft.com/office/drawing/2014/main" id="{F2259AFE-C788-5C51-985A-5F73AFA212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058" y="3861048"/>
            <a:ext cx="3986157" cy="223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5215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DC5EC1-BB32-6152-A0D7-774BE1D28019}"/>
              </a:ext>
            </a:extLst>
          </p:cNvPr>
          <p:cNvSpPr txBox="1"/>
          <p:nvPr/>
        </p:nvSpPr>
        <p:spPr>
          <a:xfrm>
            <a:off x="251520" y="255466"/>
            <a:ext cx="4752528" cy="2862322"/>
          </a:xfrm>
          <a:prstGeom prst="rect">
            <a:avLst/>
          </a:prstGeom>
          <a:noFill/>
        </p:spPr>
        <p:txBody>
          <a:bodyPr wrap="square">
            <a:spAutoFit/>
          </a:bodyPr>
          <a:lstStyle/>
          <a:p>
            <a:pPr algn="l"/>
            <a:r>
              <a:rPr lang="en-US" b="1" i="0" dirty="0">
                <a:solidFill>
                  <a:srgbClr val="D7006D"/>
                </a:solidFill>
                <a:effectLst/>
                <a:latin typeface="Red Hat Display"/>
              </a:rPr>
              <a:t>Medical Staples – 2014</a:t>
            </a:r>
          </a:p>
          <a:p>
            <a:pPr algn="l"/>
            <a:r>
              <a:rPr lang="en-US" b="0" i="0" dirty="0">
                <a:solidFill>
                  <a:srgbClr val="263746"/>
                </a:solidFill>
                <a:effectLst/>
                <a:latin typeface="Lohit Marathi"/>
              </a:rPr>
              <a:t>A current leader in many different biomimicry technologies, the Karp lab has drawn inspiration from porcupine needles in their </a:t>
            </a:r>
            <a:r>
              <a:rPr lang="en-US" b="0" i="0" u="none" strike="noStrike" dirty="0">
                <a:solidFill>
                  <a:srgbClr val="D7006D"/>
                </a:solidFill>
                <a:effectLst/>
                <a:latin typeface="Lohit Marathi"/>
              </a:rPr>
              <a:t>design for a more secure medical staple</a:t>
            </a:r>
            <a:r>
              <a:rPr lang="en-US" b="0" i="0" dirty="0">
                <a:solidFill>
                  <a:srgbClr val="263746"/>
                </a:solidFill>
                <a:effectLst/>
                <a:latin typeface="Lohit Marathi"/>
              </a:rPr>
              <a:t>. Sutures closing dangerous wounds need to be as sturdy as possible. By mimicking the unidirectional barbs found in porcupine quills, the Karp lab has created a design that will hold in soft tissue far more effectively than other staples have before.</a:t>
            </a:r>
          </a:p>
        </p:txBody>
      </p:sp>
      <p:sp>
        <p:nvSpPr>
          <p:cNvPr id="5" name="TextBox 4">
            <a:extLst>
              <a:ext uri="{FF2B5EF4-FFF2-40B4-BE49-F238E27FC236}">
                <a16:creationId xmlns:a16="http://schemas.microsoft.com/office/drawing/2014/main" id="{C93AC74B-84EF-17A4-ED0A-B50BF9C755F3}"/>
              </a:ext>
            </a:extLst>
          </p:cNvPr>
          <p:cNvSpPr txBox="1"/>
          <p:nvPr/>
        </p:nvSpPr>
        <p:spPr>
          <a:xfrm>
            <a:off x="4211960" y="3933056"/>
            <a:ext cx="4572000" cy="2308324"/>
          </a:xfrm>
          <a:prstGeom prst="rect">
            <a:avLst/>
          </a:prstGeom>
          <a:noFill/>
        </p:spPr>
        <p:txBody>
          <a:bodyPr wrap="square">
            <a:spAutoFit/>
          </a:bodyPr>
          <a:lstStyle/>
          <a:p>
            <a:pPr algn="l"/>
            <a:r>
              <a:rPr lang="en-US" b="1" i="0" dirty="0">
                <a:solidFill>
                  <a:srgbClr val="D7006D"/>
                </a:solidFill>
                <a:effectLst/>
                <a:latin typeface="Red Hat Display"/>
              </a:rPr>
              <a:t>Japanese Bullet Trains – 2016</a:t>
            </a:r>
          </a:p>
          <a:p>
            <a:pPr algn="l"/>
            <a:r>
              <a:rPr lang="en-US" b="0" i="0" dirty="0">
                <a:solidFill>
                  <a:srgbClr val="263746"/>
                </a:solidFill>
                <a:effectLst/>
                <a:latin typeface="Lohit Marathi"/>
              </a:rPr>
              <a:t>The Hokkaido Shinkansen, the latest iteration of Japan’s famous bullet trains, is based on the </a:t>
            </a:r>
            <a:r>
              <a:rPr lang="en-US" b="0" i="0" u="none" strike="noStrike" dirty="0">
                <a:solidFill>
                  <a:srgbClr val="D7006D"/>
                </a:solidFill>
                <a:effectLst/>
                <a:latin typeface="Lohit Marathi"/>
              </a:rPr>
              <a:t>face and beak of the King Fischer bird</a:t>
            </a:r>
            <a:r>
              <a:rPr lang="en-US" b="0" i="0" dirty="0">
                <a:solidFill>
                  <a:srgbClr val="263746"/>
                </a:solidFill>
                <a:effectLst/>
                <a:latin typeface="Lohit Marathi"/>
              </a:rPr>
              <a:t>. These trains are known to reach speeds in excess of 300 km/h and have an impressive track record boasting 0 fatalities in their greater than 50-year history.</a:t>
            </a:r>
          </a:p>
        </p:txBody>
      </p:sp>
      <p:pic>
        <p:nvPicPr>
          <p:cNvPr id="4098" name="Picture 2" descr="Biomimicry : 7 Amazing Technologies Inspired By Nature | Techindulge">
            <a:extLst>
              <a:ext uri="{FF2B5EF4-FFF2-40B4-BE49-F238E27FC236}">
                <a16:creationId xmlns:a16="http://schemas.microsoft.com/office/drawing/2014/main" id="{4E5EF5C3-028F-A936-230A-F7FB3CC057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4329980"/>
            <a:ext cx="3028950" cy="15144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Gecko Adhesive | The Karp Lab">
            <a:extLst>
              <a:ext uri="{FF2B5EF4-FFF2-40B4-BE49-F238E27FC236}">
                <a16:creationId xmlns:a16="http://schemas.microsoft.com/office/drawing/2014/main" id="{BA4DB67B-1661-2D19-AEF8-9148B626E7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815089"/>
            <a:ext cx="3278756" cy="2181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9347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8DD2D5-FB72-A1CF-2AB2-765BE790749C}"/>
              </a:ext>
            </a:extLst>
          </p:cNvPr>
          <p:cNvSpPr txBox="1"/>
          <p:nvPr/>
        </p:nvSpPr>
        <p:spPr>
          <a:xfrm>
            <a:off x="179512" y="188640"/>
            <a:ext cx="4572000" cy="3416320"/>
          </a:xfrm>
          <a:prstGeom prst="rect">
            <a:avLst/>
          </a:prstGeom>
          <a:noFill/>
        </p:spPr>
        <p:txBody>
          <a:bodyPr wrap="square">
            <a:spAutoFit/>
          </a:bodyPr>
          <a:lstStyle/>
          <a:p>
            <a:pPr algn="l"/>
            <a:r>
              <a:rPr lang="en-US" b="1" i="0" dirty="0">
                <a:solidFill>
                  <a:srgbClr val="D7006D"/>
                </a:solidFill>
                <a:effectLst/>
                <a:latin typeface="Red Hat Display"/>
              </a:rPr>
              <a:t>Whale Fin Wind Turbines – 2018</a:t>
            </a:r>
          </a:p>
          <a:p>
            <a:pPr algn="l"/>
            <a:r>
              <a:rPr lang="en-US" b="0" i="0" dirty="0">
                <a:solidFill>
                  <a:srgbClr val="263746"/>
                </a:solidFill>
                <a:effectLst/>
                <a:latin typeface="Lohit Marathi"/>
              </a:rPr>
              <a:t>For the past 10 years, </a:t>
            </a:r>
            <a:r>
              <a:rPr lang="en-US" b="0" i="0" u="none" strike="noStrike" dirty="0" err="1">
                <a:solidFill>
                  <a:srgbClr val="D7006D"/>
                </a:solidFill>
                <a:effectLst/>
                <a:latin typeface="Lohit Marathi"/>
                <a:hlinkClick r:id="rId2"/>
              </a:rPr>
              <a:t>Whalepower</a:t>
            </a:r>
            <a:r>
              <a:rPr lang="en-US" b="0" i="0" u="none" strike="noStrike" dirty="0">
                <a:solidFill>
                  <a:srgbClr val="D7006D"/>
                </a:solidFill>
                <a:effectLst/>
                <a:latin typeface="Lohit Marathi"/>
                <a:hlinkClick r:id="rId2"/>
              </a:rPr>
              <a:t> Corporation</a:t>
            </a:r>
            <a:r>
              <a:rPr lang="en-US" b="0" i="0" dirty="0">
                <a:solidFill>
                  <a:srgbClr val="263746"/>
                </a:solidFill>
                <a:effectLst/>
                <a:latin typeface="Lohit Marathi"/>
              </a:rPr>
              <a:t> has been doing research, starting in a Harvard lab and growing into a company, to revolutionize wind power. Drawing inspiration from </a:t>
            </a:r>
            <a:r>
              <a:rPr lang="en-US" b="0" i="0" u="none" strike="noStrike" dirty="0">
                <a:solidFill>
                  <a:srgbClr val="D7006D"/>
                </a:solidFill>
                <a:effectLst/>
                <a:latin typeface="Lohit Marathi"/>
                <a:hlinkClick r:id="rId3"/>
              </a:rPr>
              <a:t>bumps on the leading edge of humpback whale fins</a:t>
            </a:r>
            <a:r>
              <a:rPr lang="en-US" b="0" i="0" dirty="0">
                <a:solidFill>
                  <a:srgbClr val="263746"/>
                </a:solidFill>
                <a:effectLst/>
                <a:latin typeface="Lohit Marathi"/>
              </a:rPr>
              <a:t>, the engineers at </a:t>
            </a:r>
            <a:r>
              <a:rPr lang="en-US" b="0" i="0" dirty="0" err="1">
                <a:solidFill>
                  <a:srgbClr val="263746"/>
                </a:solidFill>
                <a:effectLst/>
                <a:latin typeface="Lohit Marathi"/>
              </a:rPr>
              <a:t>Whalepower</a:t>
            </a:r>
            <a:r>
              <a:rPr lang="en-US" b="0" i="0" dirty="0">
                <a:solidFill>
                  <a:srgbClr val="263746"/>
                </a:solidFill>
                <a:effectLst/>
                <a:latin typeface="Lohit Marathi"/>
              </a:rPr>
              <a:t> have designed turbine blades that channel air around artificial tubercles. This maximizes the blades ability to operate in low/infrequent wind, while maintaining their ability to function in high wind as well.</a:t>
            </a:r>
          </a:p>
        </p:txBody>
      </p:sp>
      <p:pic>
        <p:nvPicPr>
          <p:cNvPr id="6146" name="Picture 2" descr="Bumpy whale fins set to spark a revolution in aerodynamics">
            <a:extLst>
              <a:ext uri="{FF2B5EF4-FFF2-40B4-BE49-F238E27FC236}">
                <a16:creationId xmlns:a16="http://schemas.microsoft.com/office/drawing/2014/main" id="{86F6EE53-5441-B775-0062-641FCB7742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1535" y="476672"/>
            <a:ext cx="3895515" cy="25922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F4D5F18-2EAD-8C25-95AF-E7676A156DAF}"/>
              </a:ext>
            </a:extLst>
          </p:cNvPr>
          <p:cNvSpPr txBox="1"/>
          <p:nvPr/>
        </p:nvSpPr>
        <p:spPr>
          <a:xfrm>
            <a:off x="193284" y="3688798"/>
            <a:ext cx="8784976" cy="2308324"/>
          </a:xfrm>
          <a:prstGeom prst="rect">
            <a:avLst/>
          </a:prstGeom>
          <a:noFill/>
        </p:spPr>
        <p:txBody>
          <a:bodyPr wrap="square">
            <a:spAutoFit/>
          </a:bodyPr>
          <a:lstStyle/>
          <a:p>
            <a:r>
              <a:rPr lang="en-US" b="0" i="0" dirty="0">
                <a:solidFill>
                  <a:srgbClr val="2D2D2D"/>
                </a:solidFill>
                <a:effectLst/>
                <a:latin typeface="Arial" panose="020B0604020202020204" pitchFamily="34" charset="0"/>
                <a:cs typeface="Arial" panose="020B0604020202020204" pitchFamily="34" charset="0"/>
              </a:rPr>
              <a:t>The ridges on the front fins of a humpback whale, called tubercles, influence how water flows over the fins. The tubercules allow them to swim at high speeds despite their great size. Engineering and science professionals often collaborate on projects involving whale tubercules to create improved machinery for travel or energy production. Scientists often measure these tubercles using a mathematical model, while engineering professionals use this data to create a 3D model and determine how a similar design might improve lift and reduce wind drag on a submarine, aircraft or turbine.</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6726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64C832-1446-86EF-BE60-C5194100810D}"/>
              </a:ext>
            </a:extLst>
          </p:cNvPr>
          <p:cNvSpPr txBox="1"/>
          <p:nvPr/>
        </p:nvSpPr>
        <p:spPr>
          <a:xfrm>
            <a:off x="179513" y="332656"/>
            <a:ext cx="4680520" cy="4247317"/>
          </a:xfrm>
          <a:prstGeom prst="rect">
            <a:avLst/>
          </a:prstGeom>
          <a:noFill/>
        </p:spPr>
        <p:txBody>
          <a:bodyPr wrap="square">
            <a:spAutoFit/>
          </a:bodyPr>
          <a:lstStyle/>
          <a:p>
            <a:r>
              <a:rPr lang="en-US" b="0" i="0" dirty="0">
                <a:solidFill>
                  <a:srgbClr val="2D2D2D"/>
                </a:solidFill>
                <a:effectLst/>
                <a:latin typeface="Arial" panose="020B0604020202020204" pitchFamily="34" charset="0"/>
                <a:cs typeface="Arial" panose="020B0604020202020204" pitchFamily="34" charset="0"/>
              </a:rPr>
              <a:t>Woodpeckers use their long beaks to forage for insects and create homes in the trunks of trees without sustaining head injuries from the fast and forceful pecking Biologists conducted CT scans and reviewed recordings of the bird, finding structures in a woodpecker's body that work together to improve its shock absorption. Aerospace engineers often use these structures to design meteorite-resistant spacecraft and airplane black boxes that can absorb more force before malfunctioning. This natural design can also help aircraft and aeronautical engineers develop more quality technology in the future.</a:t>
            </a:r>
            <a:endParaRPr lang="en-US"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6A575095-A8C1-A40D-BF2F-C0E5831B5941}"/>
              </a:ext>
            </a:extLst>
          </p:cNvPr>
          <p:cNvSpPr txBox="1"/>
          <p:nvPr/>
        </p:nvSpPr>
        <p:spPr>
          <a:xfrm>
            <a:off x="179512" y="4638035"/>
            <a:ext cx="8568952" cy="2031325"/>
          </a:xfrm>
          <a:prstGeom prst="rect">
            <a:avLst/>
          </a:prstGeom>
          <a:noFill/>
        </p:spPr>
        <p:txBody>
          <a:bodyPr wrap="square">
            <a:spAutoFit/>
          </a:bodyPr>
          <a:lstStyle/>
          <a:p>
            <a:pPr algn="l"/>
            <a:r>
              <a:rPr lang="en-US" b="1" i="0" dirty="0">
                <a:solidFill>
                  <a:srgbClr val="D7006D"/>
                </a:solidFill>
                <a:effectLst/>
                <a:latin typeface="Arial" panose="020B0604020202020204" pitchFamily="34" charset="0"/>
                <a:cs typeface="Arial" panose="020B0604020202020204" pitchFamily="34" charset="0"/>
              </a:rPr>
              <a:t> Woodpecker Football Helmets – 2018</a:t>
            </a:r>
          </a:p>
          <a:p>
            <a:pPr algn="l"/>
            <a:r>
              <a:rPr lang="en-US" b="0" i="0" dirty="0">
                <a:solidFill>
                  <a:srgbClr val="263746"/>
                </a:solidFill>
                <a:effectLst/>
                <a:latin typeface="Arial" panose="020B0604020202020204" pitchFamily="34" charset="0"/>
                <a:cs typeface="Arial" panose="020B0604020202020204" pitchFamily="34" charset="0"/>
              </a:rPr>
              <a:t>When designing a new football helmet to help with chronic prevalence of CTE in the NFL, the team at </a:t>
            </a:r>
            <a:r>
              <a:rPr lang="en-US" b="0" i="0" u="none" strike="noStrike" dirty="0">
                <a:solidFill>
                  <a:srgbClr val="D7006D"/>
                </a:solidFill>
                <a:effectLst/>
                <a:latin typeface="Arial" panose="020B0604020202020204" pitchFamily="34" charset="0"/>
                <a:cs typeface="Arial" panose="020B0604020202020204" pitchFamily="34" charset="0"/>
                <a:hlinkClick r:id="rId2"/>
              </a:rPr>
              <a:t>VICIS turned to the humble woodpecker</a:t>
            </a:r>
            <a:r>
              <a:rPr lang="en-US" b="0" i="0" dirty="0">
                <a:solidFill>
                  <a:srgbClr val="263746"/>
                </a:solidFill>
                <a:effectLst/>
                <a:latin typeface="Arial" panose="020B0604020202020204" pitchFamily="34" charset="0"/>
                <a:cs typeface="Arial" panose="020B0604020202020204" pitchFamily="34" charset="0"/>
              </a:rPr>
              <a:t>. These amazing birds spend a lot of time hitting their heads against hard objects, without any serious repercussions. After creating an impact absorption system mimicking the soft tissue surrounding the skull of the woodpecker, they are confident they have a product that will help decrease injury in athletes engaging in high-impact sport.</a:t>
            </a:r>
          </a:p>
        </p:txBody>
      </p:sp>
      <p:pic>
        <p:nvPicPr>
          <p:cNvPr id="6148" name="Picture 4" descr="Concussion Showdown Algebra Article for Students | Scholastic Math Magazine">
            <a:extLst>
              <a:ext uri="{FF2B5EF4-FFF2-40B4-BE49-F238E27FC236}">
                <a16:creationId xmlns:a16="http://schemas.microsoft.com/office/drawing/2014/main" id="{4397184F-8385-FFEF-8AE5-5D57B258D1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7336" y="44624"/>
            <a:ext cx="4067152" cy="275612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544EC52-C563-CC97-B8C3-382811C60454}"/>
              </a:ext>
            </a:extLst>
          </p:cNvPr>
          <p:cNvSpPr txBox="1"/>
          <p:nvPr/>
        </p:nvSpPr>
        <p:spPr>
          <a:xfrm>
            <a:off x="4788023" y="2800753"/>
            <a:ext cx="4355977" cy="2523768"/>
          </a:xfrm>
          <a:prstGeom prst="rect">
            <a:avLst/>
          </a:prstGeom>
          <a:noFill/>
        </p:spPr>
        <p:txBody>
          <a:bodyPr wrap="square" rtlCol="0">
            <a:spAutoFit/>
          </a:bodyPr>
          <a:lstStyle/>
          <a:p>
            <a:r>
              <a:rPr lang="en-US" sz="1400" b="1" dirty="0"/>
              <a:t>Swimsuits :</a:t>
            </a:r>
          </a:p>
          <a:p>
            <a:r>
              <a:rPr lang="en-US" sz="1400" b="1" dirty="0"/>
              <a:t>Lotus Effect (Water Repellence)</a:t>
            </a:r>
          </a:p>
          <a:p>
            <a:r>
              <a:rPr lang="en-US" sz="1400" dirty="0"/>
              <a:t>The surfaces of some aquatic animals, such as otters and seals, are water-repellent, reducing drag caused by water clinging to the body.</a:t>
            </a:r>
          </a:p>
          <a:p>
            <a:pPr>
              <a:buFont typeface="Arial" panose="020B0604020202020204" pitchFamily="34" charset="0"/>
              <a:buChar char="•"/>
            </a:pPr>
            <a:r>
              <a:rPr lang="en-US" sz="1400" b="1" dirty="0"/>
              <a:t>Application in Swimsuits:</a:t>
            </a:r>
            <a:br>
              <a:rPr lang="en-US" sz="1400" dirty="0"/>
            </a:br>
            <a:r>
              <a:rPr lang="en-US" sz="1400" dirty="0"/>
              <a:t>Advanced swimsuits are designed with fabrics that repel water, reducing the drag caused by water absorption. This also helps keep the suit lightweight during races.</a:t>
            </a:r>
          </a:p>
          <a:p>
            <a:endParaRPr lang="en-IN" dirty="0"/>
          </a:p>
        </p:txBody>
      </p:sp>
    </p:spTree>
    <p:extLst>
      <p:ext uri="{BB962C8B-B14F-4D97-AF65-F5344CB8AC3E}">
        <p14:creationId xmlns:p14="http://schemas.microsoft.com/office/powerpoint/2010/main" val="1787536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E050FD-2739-1950-53E8-05A60E457CBC}"/>
              </a:ext>
            </a:extLst>
          </p:cNvPr>
          <p:cNvSpPr txBox="1"/>
          <p:nvPr/>
        </p:nvSpPr>
        <p:spPr>
          <a:xfrm>
            <a:off x="323528" y="188640"/>
            <a:ext cx="4572000" cy="3139321"/>
          </a:xfrm>
          <a:prstGeom prst="rect">
            <a:avLst/>
          </a:prstGeom>
          <a:noFill/>
        </p:spPr>
        <p:txBody>
          <a:bodyPr wrap="square">
            <a:spAutoFit/>
          </a:bodyPr>
          <a:lstStyle/>
          <a:p>
            <a:r>
              <a:rPr lang="en-US" b="1" i="0" dirty="0">
                <a:solidFill>
                  <a:srgbClr val="D7006D"/>
                </a:solidFill>
                <a:effectLst/>
                <a:latin typeface="Lohit Marathi"/>
              </a:rPr>
              <a:t>Hydrodynamic Green Energy Solutions – Currently in Development</a:t>
            </a:r>
          </a:p>
          <a:p>
            <a:r>
              <a:rPr lang="en-US" b="0" i="0" dirty="0">
                <a:solidFill>
                  <a:srgbClr val="263746"/>
                </a:solidFill>
                <a:effectLst/>
                <a:latin typeface="Lohit Marathi"/>
              </a:rPr>
              <a:t>Currently in late stage development, the </a:t>
            </a:r>
            <a:r>
              <a:rPr lang="en-US" b="0" i="0" u="none" strike="noStrike" dirty="0" err="1">
                <a:solidFill>
                  <a:srgbClr val="D7006D"/>
                </a:solidFill>
                <a:effectLst/>
                <a:latin typeface="Lohit Marathi"/>
                <a:hlinkClick r:id="rId2"/>
              </a:rPr>
              <a:t>bioWAVE</a:t>
            </a:r>
            <a:r>
              <a:rPr lang="en-US" b="0" i="0" dirty="0">
                <a:solidFill>
                  <a:srgbClr val="263746"/>
                </a:solidFill>
                <a:effectLst/>
                <a:latin typeface="Lohit Marathi"/>
              </a:rPr>
              <a:t> aims to harness the fluid dynamic power of waves and convert it into electricity. Designed after coral, the structure is able to be pushed back and forth by shifting tides. This will have major advantages over other sources of green energy as it will provide more constant energy production than either wind or solar.</a:t>
            </a:r>
            <a:endParaRPr lang="en-US" dirty="0"/>
          </a:p>
        </p:txBody>
      </p:sp>
      <p:sp>
        <p:nvSpPr>
          <p:cNvPr id="5" name="TextBox 4">
            <a:extLst>
              <a:ext uri="{FF2B5EF4-FFF2-40B4-BE49-F238E27FC236}">
                <a16:creationId xmlns:a16="http://schemas.microsoft.com/office/drawing/2014/main" id="{92F4E1BA-54AB-AE77-19AC-823493C5676E}"/>
              </a:ext>
            </a:extLst>
          </p:cNvPr>
          <p:cNvSpPr txBox="1"/>
          <p:nvPr/>
        </p:nvSpPr>
        <p:spPr>
          <a:xfrm>
            <a:off x="3491880" y="3352801"/>
            <a:ext cx="5436096" cy="3139321"/>
          </a:xfrm>
          <a:prstGeom prst="rect">
            <a:avLst/>
          </a:prstGeom>
          <a:noFill/>
        </p:spPr>
        <p:txBody>
          <a:bodyPr wrap="square">
            <a:spAutoFit/>
          </a:bodyPr>
          <a:lstStyle/>
          <a:p>
            <a:r>
              <a:rPr lang="en-US" b="1" i="0" dirty="0">
                <a:solidFill>
                  <a:srgbClr val="D7006D"/>
                </a:solidFill>
                <a:effectLst/>
                <a:latin typeface="Lohit Marathi"/>
              </a:rPr>
              <a:t>Biohacking Limb Regeneration Technology – Currently in Development</a:t>
            </a:r>
          </a:p>
          <a:p>
            <a:r>
              <a:rPr lang="en-US" b="0" i="0" dirty="0">
                <a:solidFill>
                  <a:srgbClr val="263746"/>
                </a:solidFill>
                <a:effectLst/>
                <a:latin typeface="Lohit Marathi"/>
              </a:rPr>
              <a:t>Researchers in labs around the world are pulling inspiration from an aquatic salamander, the axolotl, in designs for medical technologies to aid with </a:t>
            </a:r>
            <a:r>
              <a:rPr lang="en-US" b="0" i="0" u="none" strike="noStrike" dirty="0">
                <a:solidFill>
                  <a:srgbClr val="D7006D"/>
                </a:solidFill>
                <a:effectLst/>
                <a:latin typeface="Lohit Marathi"/>
                <a:hlinkClick r:id="rId3"/>
              </a:rPr>
              <a:t>regeneration of damaged or removed limbs</a:t>
            </a:r>
            <a:r>
              <a:rPr lang="en-US" b="0" i="0" dirty="0">
                <a:solidFill>
                  <a:srgbClr val="263746"/>
                </a:solidFill>
                <a:effectLst/>
                <a:latin typeface="Lohit Marathi"/>
              </a:rPr>
              <a:t>. This create can regrow lost limbs over the course of a few weeks, complete with soft, cardiac, and neuronal tissue. By sequencing and searching the axolotl genome, scientists are learning how we may be able to use this technology for ourselves in the future.</a:t>
            </a:r>
            <a:endParaRPr lang="en-US" dirty="0"/>
          </a:p>
        </p:txBody>
      </p:sp>
      <p:sp>
        <p:nvSpPr>
          <p:cNvPr id="6" name="AutoShape 2">
            <a:extLst>
              <a:ext uri="{FF2B5EF4-FFF2-40B4-BE49-F238E27FC236}">
                <a16:creationId xmlns:a16="http://schemas.microsoft.com/office/drawing/2014/main" id="{5AB0F2AA-360D-468A-4337-F81107A4FD9B}"/>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5043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Image">
            <a:extLst>
              <a:ext uri="{FF2B5EF4-FFF2-40B4-BE49-F238E27FC236}">
                <a16:creationId xmlns:a16="http://schemas.microsoft.com/office/drawing/2014/main" id="{6CDBB046-04A0-CEB0-5F8D-6FF2215D56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7665" y="1268760"/>
            <a:ext cx="3988831" cy="287528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232607D-2A0F-308D-703E-4CBDB65D341F}"/>
              </a:ext>
            </a:extLst>
          </p:cNvPr>
          <p:cNvSpPr txBox="1"/>
          <p:nvPr/>
        </p:nvSpPr>
        <p:spPr>
          <a:xfrm>
            <a:off x="107504" y="6904"/>
            <a:ext cx="5112568" cy="6740307"/>
          </a:xfrm>
          <a:prstGeom prst="rect">
            <a:avLst/>
          </a:prstGeom>
          <a:noFill/>
        </p:spPr>
        <p:txBody>
          <a:bodyPr wrap="square">
            <a:spAutoFit/>
          </a:bodyPr>
          <a:lstStyle/>
          <a:p>
            <a:r>
              <a:rPr lang="en-US" i="1" dirty="0">
                <a:solidFill>
                  <a:srgbClr val="212121"/>
                </a:solidFill>
                <a:effectLst/>
                <a:latin typeface="Cambria" panose="02040503050406030204" pitchFamily="18" charset="0"/>
              </a:rPr>
              <a:t>Natural biological systems are constantly developing efficient mechanisms to counter adverse effects of increasing human population and depleting energy resources. </a:t>
            </a:r>
          </a:p>
          <a:p>
            <a:r>
              <a:rPr lang="en-US" dirty="0">
                <a:solidFill>
                  <a:srgbClr val="212121"/>
                </a:solidFill>
                <a:effectLst/>
                <a:latin typeface="Cambria" panose="02040503050406030204" pitchFamily="18" charset="0"/>
              </a:rPr>
              <a:t>Their intelligent mechanisms are characterized by the ability to detect changes in the environment, store and evaluate information, and respond to external stimuli.</a:t>
            </a:r>
          </a:p>
          <a:p>
            <a:r>
              <a:rPr lang="en-US" i="1" dirty="0">
                <a:solidFill>
                  <a:srgbClr val="212121"/>
                </a:solidFill>
                <a:effectLst/>
                <a:latin typeface="Cambria" panose="02040503050406030204" pitchFamily="18" charset="0"/>
              </a:rPr>
              <a:t>Bio-inspired replication into man-made functional materials guarantees enhancement of characteristics and performance.</a:t>
            </a:r>
          </a:p>
          <a:p>
            <a:r>
              <a:rPr lang="en-US" dirty="0">
                <a:solidFill>
                  <a:srgbClr val="212121"/>
                </a:solidFill>
                <a:effectLst/>
                <a:latin typeface="Cambria" panose="02040503050406030204" pitchFamily="18" charset="0"/>
              </a:rPr>
              <a:t>Specifically, butterfly architectures have inspired the fabrication of sensor and energy materials by replicating their unique micro/nanostructures, light-trapping mechanisms and selective responses to external stimuli.</a:t>
            </a:r>
          </a:p>
          <a:p>
            <a:r>
              <a:rPr lang="en-US" i="1" dirty="0">
                <a:solidFill>
                  <a:srgbClr val="212121"/>
                </a:solidFill>
                <a:effectLst/>
                <a:latin typeface="Cambria" panose="02040503050406030204" pitchFamily="18" charset="0"/>
              </a:rPr>
              <a:t>These bio-inspired sensor and energy materials have shown improved performance in harnessing renewable energy, environmental remediation and health monitoring.</a:t>
            </a:r>
            <a:endParaRPr lang="en-US" i="1" dirty="0">
              <a:solidFill>
                <a:srgbClr val="212121"/>
              </a:solidFill>
              <a:latin typeface="Cambria" panose="02040503050406030204" pitchFamily="18" charset="0"/>
            </a:endParaRPr>
          </a:p>
          <a:p>
            <a:r>
              <a:rPr lang="en-US" dirty="0">
                <a:solidFill>
                  <a:srgbClr val="212121"/>
                </a:solidFill>
                <a:effectLst/>
                <a:latin typeface="Cambria" panose="02040503050406030204" pitchFamily="18" charset="0"/>
              </a:rPr>
              <a:t>Therefore, this review highlights recent progress reported on the classification of butterfly wing scale architectures and explores several bio-inspired sensor and energy applications</a:t>
            </a:r>
            <a:r>
              <a:rPr lang="en-US" b="1" dirty="0">
                <a:solidFill>
                  <a:srgbClr val="212121"/>
                </a:solidFill>
                <a:effectLst/>
                <a:latin typeface="Cambria" panose="02040503050406030204" pitchFamily="18" charset="0"/>
              </a:rPr>
              <a:t>.</a:t>
            </a:r>
            <a:endParaRPr lang="en-US" b="1" dirty="0"/>
          </a:p>
        </p:txBody>
      </p:sp>
    </p:spTree>
    <p:extLst>
      <p:ext uri="{BB962C8B-B14F-4D97-AF65-F5344CB8AC3E}">
        <p14:creationId xmlns:p14="http://schemas.microsoft.com/office/powerpoint/2010/main" val="407941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EA502B-ABDC-FF95-2682-441C9034F5A8}"/>
              </a:ext>
            </a:extLst>
          </p:cNvPr>
          <p:cNvSpPr txBox="1"/>
          <p:nvPr/>
        </p:nvSpPr>
        <p:spPr>
          <a:xfrm>
            <a:off x="2286000" y="116632"/>
            <a:ext cx="4572000" cy="6217087"/>
          </a:xfrm>
          <a:prstGeom prst="rect">
            <a:avLst/>
          </a:prstGeom>
          <a:noFill/>
        </p:spPr>
        <p:txBody>
          <a:bodyPr wrap="square">
            <a:spAutoFit/>
          </a:bodyPr>
          <a:lstStyle/>
          <a:p>
            <a:r>
              <a:rPr lang="en-US" sz="2000" b="0" i="1" dirty="0">
                <a:solidFill>
                  <a:srgbClr val="2D2D2D"/>
                </a:solidFill>
                <a:effectLst/>
                <a:latin typeface="Noto Sans" panose="020B0502040504020204" pitchFamily="34" charset="0"/>
              </a:rPr>
              <a:t>Sharks can reach fast speeds because of their scales' shape, which resemble tiny teeth that cut through water currents and lessen turbulence.</a:t>
            </a:r>
            <a:endParaRPr lang="en-US" dirty="0">
              <a:solidFill>
                <a:srgbClr val="2D2D2D"/>
              </a:solidFill>
              <a:latin typeface="Noto Sans" panose="020B0502040504020204" pitchFamily="34" charset="0"/>
            </a:endParaRPr>
          </a:p>
          <a:p>
            <a:r>
              <a:rPr lang="en-US" sz="2000" b="0" i="0" dirty="0">
                <a:solidFill>
                  <a:srgbClr val="2D2D2D"/>
                </a:solidFill>
                <a:effectLst/>
                <a:latin typeface="Noto Sans" panose="020B0502040504020204" pitchFamily="34" charset="0"/>
              </a:rPr>
              <a:t>	-- Scientists first created a paint that resembles shark skin to reduce how much friction ships produce on the water and how much fuel they use.</a:t>
            </a:r>
          </a:p>
          <a:p>
            <a:endParaRPr lang="en-US" dirty="0">
              <a:solidFill>
                <a:srgbClr val="2D2D2D"/>
              </a:solidFill>
              <a:latin typeface="Noto Sans" panose="020B0502040504020204" pitchFamily="34" charset="0"/>
            </a:endParaRPr>
          </a:p>
          <a:p>
            <a:r>
              <a:rPr lang="en-US" sz="2000" b="0" i="1" dirty="0">
                <a:solidFill>
                  <a:srgbClr val="2D2D2D"/>
                </a:solidFill>
                <a:effectLst/>
                <a:latin typeface="Noto Sans" panose="020B0502040504020204" pitchFamily="34" charset="0"/>
              </a:rPr>
              <a:t>Since shark skin is also resistant to parasitic and bacterial growth, medical researchers applied a similar design to create a plastic film to cover hospital walls.</a:t>
            </a:r>
            <a:endParaRPr lang="en-US" dirty="0">
              <a:solidFill>
                <a:srgbClr val="2D2D2D"/>
              </a:solidFill>
              <a:latin typeface="Noto Sans" panose="020B0502040504020204" pitchFamily="34" charset="0"/>
            </a:endParaRPr>
          </a:p>
          <a:p>
            <a:r>
              <a:rPr lang="en-US" sz="2000" b="0" i="0" dirty="0">
                <a:solidFill>
                  <a:srgbClr val="2D2D2D"/>
                </a:solidFill>
                <a:effectLst/>
                <a:latin typeface="Noto Sans" panose="020B0502040504020204" pitchFamily="34" charset="0"/>
              </a:rPr>
              <a:t>	-- Both marine biologists and medical engineers may work on projects involving shark fins to improve the health and safety of providers and their patients.</a:t>
            </a:r>
            <a:endParaRPr lang="en-US" sz="2000" dirty="0"/>
          </a:p>
        </p:txBody>
      </p:sp>
    </p:spTree>
    <p:extLst>
      <p:ext uri="{BB962C8B-B14F-4D97-AF65-F5344CB8AC3E}">
        <p14:creationId xmlns:p14="http://schemas.microsoft.com/office/powerpoint/2010/main" val="1955750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B9E7A7-D8FA-30AD-69AE-E7F2CA6244C8}"/>
              </a:ext>
            </a:extLst>
          </p:cNvPr>
          <p:cNvSpPr txBox="1"/>
          <p:nvPr/>
        </p:nvSpPr>
        <p:spPr>
          <a:xfrm>
            <a:off x="2024844" y="751344"/>
            <a:ext cx="5094312" cy="5355312"/>
          </a:xfrm>
          <a:prstGeom prst="rect">
            <a:avLst/>
          </a:prstGeom>
          <a:noFill/>
        </p:spPr>
        <p:txBody>
          <a:bodyPr wrap="square">
            <a:spAutoFit/>
          </a:bodyPr>
          <a:lstStyle/>
          <a:p>
            <a:r>
              <a:rPr lang="en-US" b="1" i="0" dirty="0">
                <a:solidFill>
                  <a:srgbClr val="2D2D2D"/>
                </a:solidFill>
                <a:effectLst/>
                <a:latin typeface="Noto Sans" panose="020B0502040504020204" pitchFamily="34" charset="0"/>
              </a:rPr>
              <a:t>Beetles</a:t>
            </a:r>
            <a:r>
              <a:rPr lang="en-US" b="0" i="0" dirty="0">
                <a:solidFill>
                  <a:srgbClr val="2D2D2D"/>
                </a:solidFill>
                <a:effectLst/>
                <a:latin typeface="Noto Sans" panose="020B0502040504020204" pitchFamily="34" charset="0"/>
              </a:rPr>
              <a:t> native to the Namib Desert survive the dry environment by collecting water on their backs.</a:t>
            </a:r>
          </a:p>
          <a:p>
            <a:r>
              <a:rPr lang="en-US" dirty="0">
                <a:solidFill>
                  <a:srgbClr val="2D2D2D"/>
                </a:solidFill>
                <a:latin typeface="Noto Sans" panose="020B0502040504020204" pitchFamily="34" charset="0"/>
              </a:rPr>
              <a:t>	</a:t>
            </a:r>
            <a:r>
              <a:rPr lang="en-US" b="0" i="0" dirty="0">
                <a:solidFill>
                  <a:srgbClr val="2D2D2D"/>
                </a:solidFill>
                <a:effectLst/>
                <a:latin typeface="Noto Sans" panose="020B0502040504020204" pitchFamily="34" charset="0"/>
              </a:rPr>
              <a:t>They aim their wings toward the ocean breeze and the bumps on their backs funnel water droplets toward their mouths.</a:t>
            </a:r>
          </a:p>
          <a:p>
            <a:endParaRPr lang="en-US" b="0" i="0" dirty="0">
              <a:solidFill>
                <a:srgbClr val="2D2D2D"/>
              </a:solidFill>
              <a:effectLst/>
              <a:latin typeface="Noto Sans" panose="020B0502040504020204" pitchFamily="34" charset="0"/>
            </a:endParaRPr>
          </a:p>
          <a:p>
            <a:r>
              <a:rPr lang="en-US" b="0" i="0" dirty="0">
                <a:solidFill>
                  <a:srgbClr val="2D2D2D"/>
                </a:solidFill>
                <a:effectLst/>
                <a:latin typeface="Noto Sans" panose="020B0502040504020204" pitchFamily="34" charset="0"/>
              </a:rPr>
              <a:t>Entomologists and engineers created a water bottle with similar water-collecting and water-repelling bumps.</a:t>
            </a:r>
          </a:p>
          <a:p>
            <a:r>
              <a:rPr lang="en-US" dirty="0">
                <a:solidFill>
                  <a:srgbClr val="2D2D2D"/>
                </a:solidFill>
                <a:latin typeface="Noto Sans" panose="020B0502040504020204" pitchFamily="34" charset="0"/>
              </a:rPr>
              <a:t>	</a:t>
            </a:r>
            <a:r>
              <a:rPr lang="en-US" b="0" i="0" dirty="0">
                <a:solidFill>
                  <a:srgbClr val="2D2D2D"/>
                </a:solidFill>
                <a:effectLst/>
                <a:latin typeface="Noto Sans" panose="020B0502040504020204" pitchFamily="34" charset="0"/>
              </a:rPr>
              <a:t>This project could help with water preservation efforts and make water more easily accessible for communities in dry regions.</a:t>
            </a:r>
          </a:p>
          <a:p>
            <a:endParaRPr lang="en-US" dirty="0">
              <a:solidFill>
                <a:srgbClr val="2D2D2D"/>
              </a:solidFill>
              <a:latin typeface="Noto Sans" panose="020B0502040504020204" pitchFamily="34" charset="0"/>
            </a:endParaRPr>
          </a:p>
          <a:p>
            <a:r>
              <a:rPr lang="en-US" b="0" i="0" dirty="0">
                <a:solidFill>
                  <a:srgbClr val="2D2D2D"/>
                </a:solidFill>
                <a:effectLst/>
                <a:latin typeface="Noto Sans" panose="020B0502040504020204" pitchFamily="34" charset="0"/>
              </a:rPr>
              <a:t>Professionals in conservation or community planning professions may participate in multiple water conservation projects that involve this biomimicry engineering method.</a:t>
            </a:r>
            <a:endParaRPr lang="en-US" dirty="0"/>
          </a:p>
        </p:txBody>
      </p:sp>
    </p:spTree>
    <p:extLst>
      <p:ext uri="{BB962C8B-B14F-4D97-AF65-F5344CB8AC3E}">
        <p14:creationId xmlns:p14="http://schemas.microsoft.com/office/powerpoint/2010/main" val="4060107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FB2DEF-804B-8AB5-36E4-66360C55A950}"/>
              </a:ext>
            </a:extLst>
          </p:cNvPr>
          <p:cNvSpPr txBox="1"/>
          <p:nvPr/>
        </p:nvSpPr>
        <p:spPr>
          <a:xfrm>
            <a:off x="827584" y="200758"/>
            <a:ext cx="5904656" cy="5909310"/>
          </a:xfrm>
          <a:prstGeom prst="rect">
            <a:avLst/>
          </a:prstGeom>
          <a:noFill/>
        </p:spPr>
        <p:txBody>
          <a:bodyPr wrap="square">
            <a:spAutoFit/>
          </a:bodyPr>
          <a:lstStyle/>
          <a:p>
            <a:r>
              <a:rPr lang="en-US" b="1" i="0" u="sng" dirty="0">
                <a:solidFill>
                  <a:srgbClr val="2D2D2D"/>
                </a:solidFill>
                <a:effectLst/>
                <a:latin typeface="Noto Sans" panose="020B0502040504020204" pitchFamily="34" charset="0"/>
              </a:rPr>
              <a:t>Slime mold is a single-celled organism </a:t>
            </a:r>
            <a:r>
              <a:rPr lang="en-US" b="0" i="0" dirty="0">
                <a:solidFill>
                  <a:srgbClr val="2D2D2D"/>
                </a:solidFill>
                <a:effectLst/>
                <a:latin typeface="Noto Sans" panose="020B0502040504020204" pitchFamily="34" charset="0"/>
              </a:rPr>
              <a:t>that thrives in damp environments, like </a:t>
            </a:r>
            <a:r>
              <a:rPr lang="en-US" b="0" i="1" u="sng" dirty="0">
                <a:solidFill>
                  <a:srgbClr val="2D2D2D"/>
                </a:solidFill>
                <a:effectLst/>
                <a:latin typeface="Noto Sans" panose="020B0502040504020204" pitchFamily="34" charset="0"/>
              </a:rPr>
              <a:t>forest floors, and feeds on microbes by spreading its nutrient-carrying tubes out in all directions</a:t>
            </a:r>
            <a:r>
              <a:rPr lang="en-US" b="0" i="0" dirty="0">
                <a:solidFill>
                  <a:srgbClr val="2D2D2D"/>
                </a:solidFill>
                <a:effectLst/>
                <a:latin typeface="Noto Sans" panose="020B0502040504020204" pitchFamily="34" charset="0"/>
              </a:rPr>
              <a:t>.</a:t>
            </a:r>
          </a:p>
          <a:p>
            <a:r>
              <a:rPr lang="en-US" dirty="0">
                <a:solidFill>
                  <a:srgbClr val="2D2D2D"/>
                </a:solidFill>
                <a:latin typeface="Noto Sans" panose="020B0502040504020204" pitchFamily="34" charset="0"/>
              </a:rPr>
              <a:t>	</a:t>
            </a:r>
            <a:r>
              <a:rPr lang="en-US" b="0" i="0" dirty="0">
                <a:solidFill>
                  <a:srgbClr val="2D2D2D"/>
                </a:solidFill>
                <a:effectLst/>
                <a:latin typeface="Noto Sans" panose="020B0502040504020204" pitchFamily="34" charset="0"/>
              </a:rPr>
              <a:t>To conserve energy, it keeps only the tubes that find the most nutrients and leaves chemical trails to remember which areas don't have food.</a:t>
            </a:r>
          </a:p>
          <a:p>
            <a:endParaRPr lang="en-US" dirty="0">
              <a:solidFill>
                <a:srgbClr val="2D2D2D"/>
              </a:solidFill>
              <a:latin typeface="Noto Sans" panose="020B0502040504020204" pitchFamily="34" charset="0"/>
            </a:endParaRPr>
          </a:p>
          <a:p>
            <a:r>
              <a:rPr lang="en-US" b="0" i="0" dirty="0">
                <a:solidFill>
                  <a:srgbClr val="2D2D2D"/>
                </a:solidFill>
                <a:effectLst/>
                <a:latin typeface="Noto Sans" panose="020B0502040504020204" pitchFamily="34" charset="0"/>
              </a:rPr>
              <a:t>Entomologists and railway engineers studied this mold to see how it could help improve transportation systems.</a:t>
            </a:r>
            <a:endParaRPr lang="en-US" dirty="0">
              <a:solidFill>
                <a:srgbClr val="2D2D2D"/>
              </a:solidFill>
              <a:latin typeface="Noto Sans" panose="020B0502040504020204" pitchFamily="34" charset="0"/>
            </a:endParaRPr>
          </a:p>
          <a:p>
            <a:r>
              <a:rPr lang="en-US" b="0" i="0" dirty="0">
                <a:solidFill>
                  <a:srgbClr val="2D2D2D"/>
                </a:solidFill>
                <a:effectLst/>
                <a:latin typeface="Noto Sans" panose="020B0502040504020204" pitchFamily="34" charset="0"/>
              </a:rPr>
              <a:t>	-- They placed the slime mold on a damp surface that represented a city and laid oat flakes in positions that represented the surrounding cities. When the slime mold expanded, it looked like a more efficient version of a railway system that didn't require a central control system.</a:t>
            </a:r>
          </a:p>
          <a:p>
            <a:endParaRPr lang="en-US" dirty="0">
              <a:solidFill>
                <a:srgbClr val="2D2D2D"/>
              </a:solidFill>
              <a:latin typeface="Noto Sans" panose="020B0502040504020204" pitchFamily="34" charset="0"/>
            </a:endParaRPr>
          </a:p>
          <a:p>
            <a:r>
              <a:rPr lang="en-US" b="0" i="0" dirty="0">
                <a:solidFill>
                  <a:srgbClr val="2D2D2D"/>
                </a:solidFill>
                <a:effectLst/>
                <a:latin typeface="Noto Sans" panose="020B0502040504020204" pitchFamily="34" charset="0"/>
              </a:rPr>
              <a:t>Urban planners and transportation engineers may use this example and similar instances to improve city plans by studying natural designs.</a:t>
            </a:r>
            <a:endParaRPr lang="en-US" dirty="0"/>
          </a:p>
        </p:txBody>
      </p:sp>
      <p:pic>
        <p:nvPicPr>
          <p:cNvPr id="6146" name="Picture 2" descr="Slime Mold - Brainless Town Planner?">
            <a:extLst>
              <a:ext uri="{FF2B5EF4-FFF2-40B4-BE49-F238E27FC236}">
                <a16:creationId xmlns:a16="http://schemas.microsoft.com/office/drawing/2014/main" id="{E055BA34-415D-0668-1D0B-CDE3B3DF26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3770" y="5013176"/>
            <a:ext cx="2677164" cy="1399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0887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B5D908-273E-C3F7-8EBF-3DE33616DCBB}"/>
              </a:ext>
            </a:extLst>
          </p:cNvPr>
          <p:cNvSpPr txBox="1"/>
          <p:nvPr/>
        </p:nvSpPr>
        <p:spPr>
          <a:xfrm>
            <a:off x="2123728" y="1308754"/>
            <a:ext cx="5328592" cy="4801314"/>
          </a:xfrm>
          <a:prstGeom prst="rect">
            <a:avLst/>
          </a:prstGeom>
          <a:noFill/>
        </p:spPr>
        <p:txBody>
          <a:bodyPr wrap="square">
            <a:spAutoFit/>
          </a:bodyPr>
          <a:lstStyle/>
          <a:p>
            <a:r>
              <a:rPr lang="en-US" b="0" i="0" dirty="0">
                <a:solidFill>
                  <a:srgbClr val="2D2D2D"/>
                </a:solidFill>
                <a:effectLst/>
                <a:latin typeface="Noto Sans" panose="020B0502040504020204" pitchFamily="34" charset="0"/>
              </a:rPr>
              <a:t>Algae remove pollutants from water through a process called bio-utilization</a:t>
            </a:r>
            <a:r>
              <a:rPr lang="en-US" dirty="0">
                <a:solidFill>
                  <a:srgbClr val="2D2D2D"/>
                </a:solidFill>
                <a:latin typeface="Noto Sans" panose="020B0502040504020204" pitchFamily="34" charset="0"/>
              </a:rPr>
              <a:t>.</a:t>
            </a:r>
          </a:p>
          <a:p>
            <a:endParaRPr lang="en-US" b="0" i="0" dirty="0">
              <a:solidFill>
                <a:srgbClr val="2D2D2D"/>
              </a:solidFill>
              <a:effectLst/>
              <a:latin typeface="Noto Sans" panose="020B0502040504020204" pitchFamily="34" charset="0"/>
            </a:endParaRPr>
          </a:p>
          <a:p>
            <a:r>
              <a:rPr lang="en-US" dirty="0">
                <a:solidFill>
                  <a:srgbClr val="2D2D2D"/>
                </a:solidFill>
                <a:latin typeface="Noto Sans" panose="020B0502040504020204" pitchFamily="34" charset="0"/>
              </a:rPr>
              <a:t>	-- </a:t>
            </a:r>
            <a:r>
              <a:rPr lang="en-US" b="0" i="0" dirty="0">
                <a:solidFill>
                  <a:srgbClr val="2D2D2D"/>
                </a:solidFill>
                <a:effectLst/>
                <a:latin typeface="Noto Sans" panose="020B0502040504020204" pitchFamily="34" charset="0"/>
              </a:rPr>
              <a:t>For example, algae covering coral reefs stimulates its growth by pulsing water over its surfaces, which enhances the coral's photosynthesis and prevents it from absorbing re-filtrated water.</a:t>
            </a:r>
          </a:p>
          <a:p>
            <a:endParaRPr lang="en-US" dirty="0">
              <a:solidFill>
                <a:srgbClr val="2D2D2D"/>
              </a:solidFill>
              <a:latin typeface="Noto Sans" panose="020B0502040504020204" pitchFamily="34" charset="0"/>
            </a:endParaRPr>
          </a:p>
          <a:p>
            <a:r>
              <a:rPr lang="en-US" b="0" i="0" dirty="0">
                <a:solidFill>
                  <a:srgbClr val="2D2D2D"/>
                </a:solidFill>
                <a:effectLst/>
                <a:latin typeface="Noto Sans" panose="020B0502040504020204" pitchFamily="34" charset="0"/>
              </a:rPr>
              <a:t>Natural science professionals refined this process to purify water that has man-made contaminants in it, such as fertilizer runoff.</a:t>
            </a:r>
          </a:p>
          <a:p>
            <a:endParaRPr lang="en-US" dirty="0">
              <a:solidFill>
                <a:srgbClr val="2D2D2D"/>
              </a:solidFill>
              <a:latin typeface="Noto Sans" panose="020B0502040504020204" pitchFamily="34" charset="0"/>
            </a:endParaRPr>
          </a:p>
          <a:p>
            <a:r>
              <a:rPr lang="en-US" b="0" i="0" dirty="0">
                <a:solidFill>
                  <a:srgbClr val="2D2D2D"/>
                </a:solidFill>
                <a:effectLst/>
                <a:latin typeface="Noto Sans" panose="020B0502040504020204" pitchFamily="34" charset="0"/>
              </a:rPr>
              <a:t>	-- Professionals like extension agents and water treatment specialists may use this natural purification system to enhance their designs and processes.</a:t>
            </a:r>
            <a:endParaRPr lang="en-US" dirty="0"/>
          </a:p>
        </p:txBody>
      </p:sp>
    </p:spTree>
    <p:extLst>
      <p:ext uri="{BB962C8B-B14F-4D97-AF65-F5344CB8AC3E}">
        <p14:creationId xmlns:p14="http://schemas.microsoft.com/office/powerpoint/2010/main" val="2023558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77689A-DDFD-C028-9700-9EEC37E4DB27}"/>
              </a:ext>
            </a:extLst>
          </p:cNvPr>
          <p:cNvSpPr txBox="1"/>
          <p:nvPr/>
        </p:nvSpPr>
        <p:spPr>
          <a:xfrm>
            <a:off x="1835696" y="1447253"/>
            <a:ext cx="5022304" cy="4247317"/>
          </a:xfrm>
          <a:prstGeom prst="rect">
            <a:avLst/>
          </a:prstGeom>
          <a:noFill/>
        </p:spPr>
        <p:txBody>
          <a:bodyPr wrap="square">
            <a:spAutoFit/>
          </a:bodyPr>
          <a:lstStyle/>
          <a:p>
            <a:r>
              <a:rPr lang="en-US" b="0" i="0" dirty="0">
                <a:solidFill>
                  <a:srgbClr val="2D2D2D"/>
                </a:solidFill>
                <a:effectLst/>
                <a:latin typeface="Noto Sans" panose="020B0502040504020204" pitchFamily="34" charset="0"/>
              </a:rPr>
              <a:t>Herpetologists and pharmaceutical scientists studied </a:t>
            </a:r>
            <a:r>
              <a:rPr lang="en-US" b="1" i="0" u="sng" dirty="0">
                <a:solidFill>
                  <a:srgbClr val="2D2D2D"/>
                </a:solidFill>
                <a:effectLst/>
                <a:latin typeface="Noto Sans" panose="020B0502040504020204" pitchFamily="34" charset="0"/>
              </a:rPr>
              <a:t>Gila monsters </a:t>
            </a:r>
            <a:r>
              <a:rPr lang="en-US" b="0" i="0" dirty="0">
                <a:solidFill>
                  <a:srgbClr val="2D2D2D"/>
                </a:solidFill>
                <a:effectLst/>
                <a:latin typeface="Noto Sans" panose="020B0502040504020204" pitchFamily="34" charset="0"/>
              </a:rPr>
              <a:t>to develop medicine for </a:t>
            </a:r>
            <a:r>
              <a:rPr lang="en-US" b="1" i="1" u="sng" dirty="0">
                <a:solidFill>
                  <a:srgbClr val="2D2D2D"/>
                </a:solidFill>
                <a:effectLst/>
                <a:latin typeface="Noto Sans" panose="020B0502040504020204" pitchFamily="34" charset="0"/>
              </a:rPr>
              <a:t>diabetes patients</a:t>
            </a:r>
            <a:r>
              <a:rPr lang="en-US" b="0" i="0" dirty="0">
                <a:solidFill>
                  <a:srgbClr val="2D2D2D"/>
                </a:solidFill>
                <a:effectLst/>
                <a:latin typeface="Noto Sans" panose="020B0502040504020204" pitchFamily="34" charset="0"/>
              </a:rPr>
              <a:t>.</a:t>
            </a:r>
          </a:p>
          <a:p>
            <a:endParaRPr lang="en-US" dirty="0">
              <a:solidFill>
                <a:srgbClr val="2D2D2D"/>
              </a:solidFill>
              <a:latin typeface="Noto Sans" panose="020B0502040504020204" pitchFamily="34" charset="0"/>
            </a:endParaRPr>
          </a:p>
          <a:p>
            <a:r>
              <a:rPr lang="en-US" b="0" i="0" dirty="0">
                <a:solidFill>
                  <a:srgbClr val="2D2D2D"/>
                </a:solidFill>
                <a:effectLst/>
                <a:latin typeface="Noto Sans" panose="020B0502040504020204" pitchFamily="34" charset="0"/>
              </a:rPr>
              <a:t>	-- Their venom contains proteins that help cells release glucose, so researchers developed a synthetic form of the protein that reduced blood sugar levels in humans more efficiently and improved how the pancreas creates insulin.</a:t>
            </a:r>
          </a:p>
          <a:p>
            <a:endParaRPr lang="en-US" dirty="0">
              <a:solidFill>
                <a:srgbClr val="2D2D2D"/>
              </a:solidFill>
              <a:latin typeface="Noto Sans" panose="020B0502040504020204" pitchFamily="34" charset="0"/>
            </a:endParaRPr>
          </a:p>
          <a:p>
            <a:r>
              <a:rPr lang="en-US" b="0" i="0" dirty="0">
                <a:solidFill>
                  <a:srgbClr val="2D2D2D"/>
                </a:solidFill>
                <a:effectLst/>
                <a:latin typeface="Noto Sans" panose="020B0502040504020204" pitchFamily="34" charset="0"/>
              </a:rPr>
              <a:t>By studying Gila monsters and animals with similar capabilities, medical engineers can develop new life-saving technology or enhance current practices.</a:t>
            </a:r>
            <a:endParaRPr lang="en-US" dirty="0"/>
          </a:p>
        </p:txBody>
      </p:sp>
      <p:pic>
        <p:nvPicPr>
          <p:cNvPr id="5122" name="Picture 2" descr="Gila monster | Description, Habitat, &amp; Facts | Britannica">
            <a:extLst>
              <a:ext uri="{FF2B5EF4-FFF2-40B4-BE49-F238E27FC236}">
                <a16:creationId xmlns:a16="http://schemas.microsoft.com/office/drawing/2014/main" id="{65637135-392E-71EE-DAAF-569C540EFA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3251" y="0"/>
            <a:ext cx="2349992" cy="1563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4697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0E3721-24B3-49E6-157C-572F66903E41}"/>
              </a:ext>
            </a:extLst>
          </p:cNvPr>
          <p:cNvPicPr>
            <a:picLocks noChangeAspect="1"/>
          </p:cNvPicPr>
          <p:nvPr/>
        </p:nvPicPr>
        <p:blipFill>
          <a:blip r:embed="rId2"/>
          <a:stretch>
            <a:fillRect/>
          </a:stretch>
        </p:blipFill>
        <p:spPr>
          <a:xfrm>
            <a:off x="713836" y="856891"/>
            <a:ext cx="7716327" cy="5144218"/>
          </a:xfrm>
          <a:prstGeom prst="rect">
            <a:avLst/>
          </a:prstGeom>
        </p:spPr>
      </p:pic>
      <p:pic>
        <p:nvPicPr>
          <p:cNvPr id="3074" name="Picture 2" descr="10 Facts About The Eden Project | The Valley">
            <a:extLst>
              <a:ext uri="{FF2B5EF4-FFF2-40B4-BE49-F238E27FC236}">
                <a16:creationId xmlns:a16="http://schemas.microsoft.com/office/drawing/2014/main" id="{BCC9AC8C-7187-D6C1-52E9-B80B4C7C3F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116632"/>
            <a:ext cx="3096344" cy="17430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MAD Architects Honeycomb Skyscraper">
            <a:extLst>
              <a:ext uri="{FF2B5EF4-FFF2-40B4-BE49-F238E27FC236}">
                <a16:creationId xmlns:a16="http://schemas.microsoft.com/office/drawing/2014/main" id="{7CFB4087-332E-C895-0962-7F11C156E8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2708920"/>
            <a:ext cx="3096344" cy="179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611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6D168E-B623-C4BB-0356-1360904FA18C}"/>
              </a:ext>
            </a:extLst>
          </p:cNvPr>
          <p:cNvPicPr>
            <a:picLocks noChangeAspect="1"/>
          </p:cNvPicPr>
          <p:nvPr/>
        </p:nvPicPr>
        <p:blipFill>
          <a:blip r:embed="rId2"/>
          <a:stretch>
            <a:fillRect/>
          </a:stretch>
        </p:blipFill>
        <p:spPr>
          <a:xfrm>
            <a:off x="611560" y="990259"/>
            <a:ext cx="7544853" cy="4877481"/>
          </a:xfrm>
          <a:prstGeom prst="rect">
            <a:avLst/>
          </a:prstGeom>
        </p:spPr>
      </p:pic>
      <p:pic>
        <p:nvPicPr>
          <p:cNvPr id="2050" name="Picture 2" descr="What Your Bones Have In Common with the Eiffel Tower - YouTube">
            <a:extLst>
              <a:ext uri="{FF2B5EF4-FFF2-40B4-BE49-F238E27FC236}">
                <a16:creationId xmlns:a16="http://schemas.microsoft.com/office/drawing/2014/main" id="{0A4AEEC4-4A62-BDD5-EAC6-3B8EC9BEF2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047" y="169969"/>
            <a:ext cx="3148013" cy="176288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Qatar's giant cactus the building is covered from its top to its bottom...  | Download Scientific Diagram">
            <a:extLst>
              <a:ext uri="{FF2B5EF4-FFF2-40B4-BE49-F238E27FC236}">
                <a16:creationId xmlns:a16="http://schemas.microsoft.com/office/drawing/2014/main" id="{29C5316C-6DF8-DEE3-DB6E-92169C45A3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047" y="5013176"/>
            <a:ext cx="3564641" cy="1372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0974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7BA657-1935-955C-5EE0-8E635EBD500E}"/>
              </a:ext>
            </a:extLst>
          </p:cNvPr>
          <p:cNvPicPr>
            <a:picLocks noChangeAspect="1"/>
          </p:cNvPicPr>
          <p:nvPr/>
        </p:nvPicPr>
        <p:blipFill rotWithShape="1">
          <a:blip r:embed="rId2"/>
          <a:srcRect t="650"/>
          <a:stretch/>
        </p:blipFill>
        <p:spPr>
          <a:xfrm>
            <a:off x="79033" y="44624"/>
            <a:ext cx="7373287" cy="6813376"/>
          </a:xfrm>
          <a:prstGeom prst="rect">
            <a:avLst/>
          </a:prstGeom>
        </p:spPr>
      </p:pic>
      <p:pic>
        <p:nvPicPr>
          <p:cNvPr id="1026" name="Picture 2" descr="CORAL REEF coral_pl007">
            <a:extLst>
              <a:ext uri="{FF2B5EF4-FFF2-40B4-BE49-F238E27FC236}">
                <a16:creationId xmlns:a16="http://schemas.microsoft.com/office/drawing/2014/main" id="{0597394B-513A-2AB8-93E7-31D97522705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3204" y="208120"/>
            <a:ext cx="2722612" cy="192473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astgate Centre, Harare - Wikipedia">
            <a:extLst>
              <a:ext uri="{FF2B5EF4-FFF2-40B4-BE49-F238E27FC236}">
                <a16:creationId xmlns:a16="http://schemas.microsoft.com/office/drawing/2014/main" id="{F320F389-5326-68E9-95B2-A55F53DAA5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7536" y="3140968"/>
            <a:ext cx="1496194" cy="170993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IOMIMETIC ARCHITECTURE: Green Building in Zimbabwe Modeled After Termite  Mounds">
            <a:extLst>
              <a:ext uri="{FF2B5EF4-FFF2-40B4-BE49-F238E27FC236}">
                <a16:creationId xmlns:a16="http://schemas.microsoft.com/office/drawing/2014/main" id="{3DA0849D-BF17-B771-1709-003CD05ABC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204" y="2916408"/>
            <a:ext cx="2722612" cy="18859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Zero-Energy Home - “Rafflesia House&quot; | Zoka Zola Architecture + Urban  Design | Archello">
            <a:extLst>
              <a:ext uri="{FF2B5EF4-FFF2-40B4-BE49-F238E27FC236}">
                <a16:creationId xmlns:a16="http://schemas.microsoft.com/office/drawing/2014/main" id="{578E8AF1-A0F2-99AD-A05A-BF2EB9B7F1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41315" y="5124003"/>
            <a:ext cx="1295181" cy="1617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98846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5D22DB1-43A4-0D3E-70DE-EDE5E8CD9725}"/>
              </a:ext>
            </a:extLst>
          </p:cNvPr>
          <p:cNvSpPr/>
          <p:nvPr/>
        </p:nvSpPr>
        <p:spPr>
          <a:xfrm>
            <a:off x="1817440" y="332656"/>
            <a:ext cx="4032448" cy="6480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Biological Algorithms</a:t>
            </a:r>
          </a:p>
        </p:txBody>
      </p:sp>
      <p:sp>
        <p:nvSpPr>
          <p:cNvPr id="6" name="TextBox 5">
            <a:extLst>
              <a:ext uri="{FF2B5EF4-FFF2-40B4-BE49-F238E27FC236}">
                <a16:creationId xmlns:a16="http://schemas.microsoft.com/office/drawing/2014/main" id="{D8AFA5AC-AA47-FAEB-2AEF-EB13C031404A}"/>
              </a:ext>
            </a:extLst>
          </p:cNvPr>
          <p:cNvSpPr txBox="1"/>
          <p:nvPr/>
        </p:nvSpPr>
        <p:spPr>
          <a:xfrm>
            <a:off x="251520" y="1412776"/>
            <a:ext cx="7164288" cy="4524315"/>
          </a:xfrm>
          <a:prstGeom prst="rect">
            <a:avLst/>
          </a:prstGeom>
          <a:noFill/>
        </p:spPr>
        <p:txBody>
          <a:bodyPr wrap="square">
            <a:spAutoFit/>
          </a:bodyPr>
          <a:lstStyle>
            <a:defPPr>
              <a:defRPr lang="en-US"/>
            </a:defPPr>
            <a:lvl1pPr marL="342900" indent="-342900">
              <a:buFont typeface="Wingdings" panose="05000000000000000000" pitchFamily="2" charset="2"/>
              <a:buChar char="q"/>
              <a:defRPr sz="2400"/>
            </a:lvl1pPr>
          </a:lstStyle>
          <a:p>
            <a:r>
              <a:rPr lang="en-US" dirty="0"/>
              <a:t>Particle Swarm Optimization (PSO)</a:t>
            </a:r>
          </a:p>
          <a:p>
            <a:r>
              <a:rPr lang="en-US" dirty="0"/>
              <a:t>Genetic Bee Colony (GBC)</a:t>
            </a:r>
          </a:p>
          <a:p>
            <a:r>
              <a:rPr lang="en-US" dirty="0"/>
              <a:t>Fish Swarm Algorithm (FSA)</a:t>
            </a:r>
          </a:p>
          <a:p>
            <a:r>
              <a:rPr lang="en-US" dirty="0"/>
              <a:t>Cat Swarm Optimization (CSO)</a:t>
            </a:r>
          </a:p>
          <a:p>
            <a:r>
              <a:rPr lang="en-US" dirty="0"/>
              <a:t>Whale Optimization Algorithm (WOA)</a:t>
            </a:r>
          </a:p>
          <a:p>
            <a:r>
              <a:rPr lang="en-US" dirty="0"/>
              <a:t>Artificial Algae Algorithm (AAA)</a:t>
            </a:r>
          </a:p>
          <a:p>
            <a:r>
              <a:rPr lang="en-US" dirty="0"/>
              <a:t>Elephant Search Algorithm (ESA)</a:t>
            </a:r>
          </a:p>
          <a:p>
            <a:r>
              <a:rPr lang="en-US" dirty="0"/>
              <a:t>Cuckoo Search Optimization Algorithm (CSOA)</a:t>
            </a:r>
          </a:p>
          <a:p>
            <a:r>
              <a:rPr lang="en-US" dirty="0"/>
              <a:t>Moth flame optimization (MFO)</a:t>
            </a:r>
          </a:p>
          <a:p>
            <a:r>
              <a:rPr lang="en-US" dirty="0"/>
              <a:t>Grey Wolf Optimization (GWO)</a:t>
            </a:r>
          </a:p>
          <a:p>
            <a:r>
              <a:rPr lang="en-US" dirty="0"/>
              <a:t>Ant colony optimization (Dorigo 1992)</a:t>
            </a:r>
          </a:p>
          <a:p>
            <a:r>
              <a:rPr lang="en-US" dirty="0"/>
              <a:t>Ant-based routing</a:t>
            </a:r>
          </a:p>
        </p:txBody>
      </p:sp>
      <p:pic>
        <p:nvPicPr>
          <p:cNvPr id="7" name="Picture 6">
            <a:extLst>
              <a:ext uri="{FF2B5EF4-FFF2-40B4-BE49-F238E27FC236}">
                <a16:creationId xmlns:a16="http://schemas.microsoft.com/office/drawing/2014/main" id="{9D94E0D8-8429-D902-CB76-37E0E62C0BA8}"/>
              </a:ext>
            </a:extLst>
          </p:cNvPr>
          <p:cNvPicPr>
            <a:picLocks noChangeAspect="1"/>
          </p:cNvPicPr>
          <p:nvPr/>
        </p:nvPicPr>
        <p:blipFill rotWithShape="1">
          <a:blip r:embed="rId2"/>
          <a:srcRect l="2001" r="1229" b="1648"/>
          <a:stretch/>
        </p:blipFill>
        <p:spPr>
          <a:xfrm>
            <a:off x="5849888" y="980728"/>
            <a:ext cx="3017363" cy="2996635"/>
          </a:xfrm>
          <a:prstGeom prst="rect">
            <a:avLst/>
          </a:prstGeom>
        </p:spPr>
      </p:pic>
    </p:spTree>
    <p:extLst>
      <p:ext uri="{BB962C8B-B14F-4D97-AF65-F5344CB8AC3E}">
        <p14:creationId xmlns:p14="http://schemas.microsoft.com/office/powerpoint/2010/main" val="2416834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Whale Optimization Algorithm (WOA) - GeeksforGeeks">
            <a:extLst>
              <a:ext uri="{FF2B5EF4-FFF2-40B4-BE49-F238E27FC236}">
                <a16:creationId xmlns:a16="http://schemas.microsoft.com/office/drawing/2014/main" id="{B9D87AC5-EF1E-16F8-6F31-3AD3E89090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19" y="476672"/>
            <a:ext cx="4159377" cy="2592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7E6F601C-FC83-14D2-557F-275D8DF95B80}"/>
              </a:ext>
            </a:extLst>
          </p:cNvPr>
          <p:cNvSpPr/>
          <p:nvPr/>
        </p:nvSpPr>
        <p:spPr>
          <a:xfrm>
            <a:off x="4932041" y="260648"/>
            <a:ext cx="4032448" cy="936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Whale Optimization Algorithm (WOA)</a:t>
            </a:r>
          </a:p>
        </p:txBody>
      </p:sp>
      <p:sp>
        <p:nvSpPr>
          <p:cNvPr id="4" name="TextBox 3">
            <a:extLst>
              <a:ext uri="{FF2B5EF4-FFF2-40B4-BE49-F238E27FC236}">
                <a16:creationId xmlns:a16="http://schemas.microsoft.com/office/drawing/2014/main" id="{51E66ED9-D9EC-8F5D-32C4-D90E893B3E46}"/>
              </a:ext>
            </a:extLst>
          </p:cNvPr>
          <p:cNvSpPr txBox="1"/>
          <p:nvPr/>
        </p:nvSpPr>
        <p:spPr>
          <a:xfrm>
            <a:off x="4918721" y="1588150"/>
            <a:ext cx="3757735" cy="1477328"/>
          </a:xfrm>
          <a:prstGeom prst="rect">
            <a:avLst/>
          </a:prstGeom>
          <a:noFill/>
        </p:spPr>
        <p:txBody>
          <a:bodyPr wrap="square">
            <a:spAutoFit/>
          </a:bodyPr>
          <a:lstStyle/>
          <a:p>
            <a:r>
              <a:rPr lang="en-US" dirty="0" err="1"/>
              <a:t>Mirjalili</a:t>
            </a:r>
            <a:r>
              <a:rPr lang="en-US" dirty="0"/>
              <a:t> and Lewis in 2016</a:t>
            </a:r>
          </a:p>
          <a:p>
            <a:r>
              <a:rPr lang="en-US" dirty="0"/>
              <a:t>social </a:t>
            </a:r>
            <a:r>
              <a:rPr lang="en-US" dirty="0" err="1"/>
              <a:t>behaviour</a:t>
            </a:r>
            <a:r>
              <a:rPr lang="en-US" dirty="0"/>
              <a:t> of humpback whales</a:t>
            </a:r>
          </a:p>
          <a:p>
            <a:r>
              <a:rPr lang="en-US" dirty="0"/>
              <a:t>hunting strategy which is called bubble-net feeding</a:t>
            </a:r>
          </a:p>
        </p:txBody>
      </p:sp>
    </p:spTree>
    <p:extLst>
      <p:ext uri="{BB962C8B-B14F-4D97-AF65-F5344CB8AC3E}">
        <p14:creationId xmlns:p14="http://schemas.microsoft.com/office/powerpoint/2010/main" val="2119347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114059F-4A95-3132-D287-624397BE9B86}"/>
              </a:ext>
            </a:extLst>
          </p:cNvPr>
          <p:cNvSpPr/>
          <p:nvPr/>
        </p:nvSpPr>
        <p:spPr>
          <a:xfrm>
            <a:off x="3441824" y="620688"/>
            <a:ext cx="2260351" cy="16561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Contribution by the Engineers</a:t>
            </a:r>
          </a:p>
        </p:txBody>
      </p:sp>
    </p:spTree>
    <p:extLst>
      <p:ext uri="{BB962C8B-B14F-4D97-AF65-F5344CB8AC3E}">
        <p14:creationId xmlns:p14="http://schemas.microsoft.com/office/powerpoint/2010/main" val="40197473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E4AA917-4510-7A71-F5B8-46E08BDFE5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412776"/>
            <a:ext cx="7528123" cy="502558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5C954571-0BF2-3ED0-E8C8-6A318E7BA324}"/>
              </a:ext>
            </a:extLst>
          </p:cNvPr>
          <p:cNvSpPr/>
          <p:nvPr/>
        </p:nvSpPr>
        <p:spPr>
          <a:xfrm>
            <a:off x="6732239" y="260648"/>
            <a:ext cx="2232249" cy="6480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Biomining</a:t>
            </a:r>
          </a:p>
        </p:txBody>
      </p:sp>
    </p:spTree>
    <p:extLst>
      <p:ext uri="{BB962C8B-B14F-4D97-AF65-F5344CB8AC3E}">
        <p14:creationId xmlns:p14="http://schemas.microsoft.com/office/powerpoint/2010/main" val="2904593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5">
            <a:extLst>
              <a:ext uri="{FF2B5EF4-FFF2-40B4-BE49-F238E27FC236}">
                <a16:creationId xmlns:a16="http://schemas.microsoft.com/office/drawing/2014/main" id="{AAED2943-0001-6BBD-6065-5433246DD4D5}"/>
              </a:ext>
            </a:extLst>
          </p:cNvPr>
          <p:cNvSpPr txBox="1">
            <a:spLocks noChangeArrowheads="1"/>
          </p:cNvSpPr>
          <p:nvPr/>
        </p:nvSpPr>
        <p:spPr bwMode="auto">
          <a:xfrm>
            <a:off x="2920008" y="764704"/>
            <a:ext cx="3456384"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chemeClr val="accent2"/>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chemeClr val="accent2"/>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chemeClr val="accent2"/>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r>
              <a:rPr kumimoji="0" lang="en-US" altLang="en-US" b="1">
                <a:latin typeface="Georgia" panose="02040502050405020303" pitchFamily="18" charset="0"/>
              </a:rPr>
              <a:t>Bioengineering</a:t>
            </a:r>
          </a:p>
        </p:txBody>
      </p:sp>
      <p:sp>
        <p:nvSpPr>
          <p:cNvPr id="4099" name="Text Box 6">
            <a:extLst>
              <a:ext uri="{FF2B5EF4-FFF2-40B4-BE49-F238E27FC236}">
                <a16:creationId xmlns:a16="http://schemas.microsoft.com/office/drawing/2014/main" id="{22E764BF-20EA-DDE8-4708-24750E52CC9F}"/>
              </a:ext>
            </a:extLst>
          </p:cNvPr>
          <p:cNvSpPr txBox="1">
            <a:spLocks noChangeArrowheads="1"/>
          </p:cNvSpPr>
          <p:nvPr/>
        </p:nvSpPr>
        <p:spPr bwMode="auto">
          <a:xfrm>
            <a:off x="685800" y="1700808"/>
            <a:ext cx="7924800"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chemeClr val="accent2"/>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chemeClr val="accent2"/>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chemeClr val="accent2"/>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r>
              <a:rPr kumimoji="0" lang="en-US" altLang="en-US" sz="2400" dirty="0">
                <a:latin typeface="Times New Roman" panose="02020603050405020304" pitchFamily="18" charset="0"/>
              </a:rPr>
              <a:t>Bioengineering or Biomedical Engineering is a discipline that advances knowledge in engineering, biology, and medicine </a:t>
            </a:r>
          </a:p>
          <a:p>
            <a:pPr>
              <a:spcBef>
                <a:spcPct val="0"/>
              </a:spcBef>
              <a:buClrTx/>
              <a:buFontTx/>
              <a:buChar char="•"/>
            </a:pPr>
            <a:r>
              <a:rPr kumimoji="0" lang="en-US" altLang="en-US" sz="2400" dirty="0">
                <a:latin typeface="Times New Roman" panose="02020603050405020304" pitchFamily="18" charset="0"/>
              </a:rPr>
              <a:t> molecular biology, biochemistry, microbiology </a:t>
            </a:r>
          </a:p>
          <a:p>
            <a:pPr>
              <a:spcBef>
                <a:spcPct val="0"/>
              </a:spcBef>
              <a:buClrTx/>
              <a:buFontTx/>
              <a:buChar char="•"/>
            </a:pPr>
            <a:r>
              <a:rPr kumimoji="0" lang="en-US" altLang="en-US" sz="2400" dirty="0">
                <a:latin typeface="Times New Roman" panose="02020603050405020304" pitchFamily="18" charset="0"/>
              </a:rPr>
              <a:t> pharmacology</a:t>
            </a:r>
          </a:p>
          <a:p>
            <a:pPr>
              <a:spcBef>
                <a:spcPct val="0"/>
              </a:spcBef>
              <a:buClrTx/>
              <a:buFontTx/>
              <a:buChar char="•"/>
            </a:pPr>
            <a:r>
              <a:rPr kumimoji="0" lang="en-US" altLang="en-US" sz="2400" dirty="0">
                <a:latin typeface="Times New Roman" panose="02020603050405020304" pitchFamily="18" charset="0"/>
              </a:rPr>
              <a:t> cytology</a:t>
            </a:r>
          </a:p>
          <a:p>
            <a:pPr>
              <a:spcBef>
                <a:spcPct val="0"/>
              </a:spcBef>
              <a:buClrTx/>
              <a:buFontTx/>
              <a:buChar char="•"/>
            </a:pPr>
            <a:r>
              <a:rPr kumimoji="0" lang="en-US" altLang="en-US" sz="2400" dirty="0">
                <a:latin typeface="Times New Roman" panose="02020603050405020304" pitchFamily="18" charset="0"/>
              </a:rPr>
              <a:t> immunology and neuroscience</a:t>
            </a:r>
          </a:p>
          <a:p>
            <a:pPr>
              <a:spcBef>
                <a:spcPct val="0"/>
              </a:spcBef>
              <a:buClrTx/>
              <a:buFontTx/>
              <a:buNone/>
            </a:pPr>
            <a:endParaRPr kumimoji="0" lang="en-US" altLang="en-US" sz="2400" dirty="0">
              <a:latin typeface="Times New Roman" panose="02020603050405020304" pitchFamily="18" charset="0"/>
            </a:endParaRPr>
          </a:p>
          <a:p>
            <a:pPr>
              <a:spcBef>
                <a:spcPct val="0"/>
              </a:spcBef>
              <a:buClrTx/>
              <a:buFontTx/>
              <a:buNone/>
            </a:pPr>
            <a:r>
              <a:rPr kumimoji="0" lang="en-US" altLang="en-US" sz="2400" dirty="0">
                <a:latin typeface="Times New Roman" panose="02020603050405020304" pitchFamily="18" charset="0"/>
              </a:rPr>
              <a:t>Biomedical engineering 		Biomedical technology </a:t>
            </a:r>
          </a:p>
          <a:p>
            <a:pPr>
              <a:spcBef>
                <a:spcPct val="0"/>
              </a:spcBef>
              <a:buClrTx/>
              <a:buFontTx/>
              <a:buNone/>
            </a:pPr>
            <a:r>
              <a:rPr kumimoji="0" lang="en-US" altLang="en-US" sz="2400" dirty="0">
                <a:latin typeface="Times New Roman" panose="02020603050405020304" pitchFamily="18" charset="0"/>
              </a:rPr>
              <a:t>Biomedical Diagnosis			Biomedical Therapy</a:t>
            </a:r>
          </a:p>
          <a:p>
            <a:pPr>
              <a:spcBef>
                <a:spcPct val="0"/>
              </a:spcBef>
              <a:buClrTx/>
              <a:buFontTx/>
              <a:buNone/>
            </a:pPr>
            <a:r>
              <a:rPr kumimoji="0" lang="en-US" altLang="en-US" sz="2400" dirty="0">
                <a:latin typeface="Times New Roman" panose="02020603050405020304" pitchFamily="18" charset="0"/>
              </a:rPr>
              <a:t>Biomechanics				Biomaterials. </a:t>
            </a:r>
          </a:p>
          <a:p>
            <a:pPr>
              <a:spcBef>
                <a:spcPct val="0"/>
              </a:spcBef>
              <a:buClrTx/>
              <a:buFontTx/>
              <a:buNone/>
            </a:pPr>
            <a:r>
              <a:rPr kumimoji="0" lang="en-US" altLang="en-US" sz="2400" dirty="0">
                <a:latin typeface="Times New Roman" panose="02020603050405020304" pitchFamily="18" charset="0"/>
              </a:rPr>
              <a:t>Genetic engineering			Cell engineering </a:t>
            </a:r>
            <a:endParaRPr kumimoji="0" lang="en-US" altLang="en-US" sz="2400" b="1" dirty="0">
              <a:latin typeface="Times New Roman" panose="02020603050405020304" pitchFamily="18"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4">
            <a:extLst>
              <a:ext uri="{FF2B5EF4-FFF2-40B4-BE49-F238E27FC236}">
                <a16:creationId xmlns:a16="http://schemas.microsoft.com/office/drawing/2014/main" id="{E9C2F784-3C18-11AD-604C-724A193897FB}"/>
              </a:ext>
            </a:extLst>
          </p:cNvPr>
          <p:cNvSpPr txBox="1">
            <a:spLocks noChangeArrowheads="1"/>
          </p:cNvSpPr>
          <p:nvPr/>
        </p:nvSpPr>
        <p:spPr bwMode="auto">
          <a:xfrm>
            <a:off x="685800" y="1905000"/>
            <a:ext cx="7543800"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chemeClr val="accent2"/>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chemeClr val="accent2"/>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chemeClr val="accent2"/>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r>
              <a:rPr kumimoji="0" lang="en-US" altLang="en-US" sz="2400" dirty="0">
                <a:latin typeface="Times New Roman" panose="02020603050405020304" pitchFamily="18" charset="0"/>
              </a:rPr>
              <a:t>Biomechanics</a:t>
            </a:r>
          </a:p>
          <a:p>
            <a:pPr>
              <a:spcBef>
                <a:spcPct val="50000"/>
              </a:spcBef>
              <a:buClrTx/>
              <a:buNone/>
            </a:pPr>
            <a:r>
              <a:rPr kumimoji="0" lang="en-US" altLang="en-US" sz="2400" dirty="0">
                <a:latin typeface="Times New Roman" panose="02020603050405020304" pitchFamily="18" charset="0"/>
              </a:rPr>
              <a:t>Bioinstrumentation</a:t>
            </a:r>
          </a:p>
          <a:p>
            <a:pPr>
              <a:spcBef>
                <a:spcPct val="50000"/>
              </a:spcBef>
              <a:buClrTx/>
              <a:buFontTx/>
              <a:buNone/>
            </a:pPr>
            <a:r>
              <a:rPr kumimoji="0" lang="en-US" altLang="en-US" sz="2400" dirty="0">
                <a:latin typeface="Times New Roman" panose="02020603050405020304" pitchFamily="18" charset="0"/>
              </a:rPr>
              <a:t>System  Physiology</a:t>
            </a:r>
          </a:p>
          <a:p>
            <a:pPr>
              <a:spcBef>
                <a:spcPct val="50000"/>
              </a:spcBef>
              <a:buClrTx/>
              <a:buFontTx/>
              <a:buNone/>
            </a:pPr>
            <a:r>
              <a:rPr kumimoji="0" lang="en-US" altLang="en-US" sz="2400" dirty="0">
                <a:latin typeface="Times New Roman" panose="02020603050405020304" pitchFamily="18" charset="0"/>
              </a:rPr>
              <a:t>Clinical  Engineering</a:t>
            </a:r>
          </a:p>
          <a:p>
            <a:pPr>
              <a:spcBef>
                <a:spcPct val="50000"/>
              </a:spcBef>
              <a:buClrTx/>
              <a:buFontTx/>
              <a:buNone/>
            </a:pPr>
            <a:r>
              <a:rPr kumimoji="0" lang="en-US" altLang="en-US" sz="2400" dirty="0">
                <a:latin typeface="Times New Roman" panose="02020603050405020304" pitchFamily="18" charset="0"/>
              </a:rPr>
              <a:t>Rehabilitation Engineering</a:t>
            </a:r>
          </a:p>
          <a:p>
            <a:pPr>
              <a:spcBef>
                <a:spcPct val="50000"/>
              </a:spcBef>
              <a:buClrTx/>
              <a:buFontTx/>
              <a:buNone/>
            </a:pPr>
            <a:endParaRPr kumimoji="0" lang="en-US" altLang="en-US" sz="2400" dirty="0">
              <a:latin typeface="Times New Roman" panose="02020603050405020304" pitchFamily="18" charset="0"/>
            </a:endParaRPr>
          </a:p>
        </p:txBody>
      </p:sp>
      <p:sp>
        <p:nvSpPr>
          <p:cNvPr id="6147" name="Text Box 5">
            <a:extLst>
              <a:ext uri="{FF2B5EF4-FFF2-40B4-BE49-F238E27FC236}">
                <a16:creationId xmlns:a16="http://schemas.microsoft.com/office/drawing/2014/main" id="{5C2DB0EF-D9D2-7CDB-943B-F0FCADA77E08}"/>
              </a:ext>
            </a:extLst>
          </p:cNvPr>
          <p:cNvSpPr txBox="1">
            <a:spLocks noChangeArrowheads="1"/>
          </p:cNvSpPr>
          <p:nvPr/>
        </p:nvSpPr>
        <p:spPr bwMode="auto">
          <a:xfrm>
            <a:off x="2752936" y="548680"/>
            <a:ext cx="340952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chemeClr val="accent2"/>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chemeClr val="accent2"/>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chemeClr val="accent2"/>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r>
              <a:rPr kumimoji="0" lang="en-US" altLang="en-US" b="1" dirty="0">
                <a:latin typeface="Georgia" panose="02040502050405020303" pitchFamily="18" charset="0"/>
              </a:rPr>
              <a:t>Specialty areas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a:extLst>
              <a:ext uri="{FF2B5EF4-FFF2-40B4-BE49-F238E27FC236}">
                <a16:creationId xmlns:a16="http://schemas.microsoft.com/office/drawing/2014/main" id="{93DB3026-0C2B-7C72-7BB6-1AAA36F670E3}"/>
              </a:ext>
            </a:extLst>
          </p:cNvPr>
          <p:cNvSpPr txBox="1">
            <a:spLocks noChangeArrowheads="1"/>
          </p:cNvSpPr>
          <p:nvPr/>
        </p:nvSpPr>
        <p:spPr bwMode="auto">
          <a:xfrm>
            <a:off x="800100" y="1412776"/>
            <a:ext cx="7543800"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chemeClr val="accent2"/>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chemeClr val="accent2"/>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chemeClr val="accent2"/>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r>
              <a:rPr kumimoji="0" lang="en-US" altLang="en-US" sz="2400" dirty="0">
                <a:latin typeface="Times New Roman" panose="02020603050405020304" pitchFamily="18" charset="0"/>
              </a:rPr>
              <a:t>Artificial joints</a:t>
            </a:r>
          </a:p>
          <a:p>
            <a:pPr>
              <a:spcBef>
                <a:spcPct val="50000"/>
              </a:spcBef>
              <a:buClrTx/>
              <a:buFontTx/>
              <a:buNone/>
            </a:pPr>
            <a:r>
              <a:rPr kumimoji="0" lang="en-US" altLang="en-US" sz="2400" dirty="0">
                <a:latin typeface="Times New Roman" panose="02020603050405020304" pitchFamily="18" charset="0"/>
              </a:rPr>
              <a:t>		MRI</a:t>
            </a:r>
          </a:p>
          <a:p>
            <a:pPr>
              <a:spcBef>
                <a:spcPct val="50000"/>
              </a:spcBef>
              <a:buClrTx/>
              <a:buFontTx/>
              <a:buNone/>
            </a:pPr>
            <a:r>
              <a:rPr kumimoji="0" lang="en-US" altLang="en-US" sz="2400" dirty="0">
                <a:latin typeface="Times New Roman" panose="02020603050405020304" pitchFamily="18" charset="0"/>
              </a:rPr>
              <a:t>			Heart pacemaker</a:t>
            </a:r>
          </a:p>
          <a:p>
            <a:pPr>
              <a:spcBef>
                <a:spcPct val="50000"/>
              </a:spcBef>
              <a:buClrTx/>
              <a:buFontTx/>
              <a:buNone/>
            </a:pPr>
            <a:r>
              <a:rPr kumimoji="0" lang="en-US" altLang="en-US" sz="2400" dirty="0">
                <a:latin typeface="Times New Roman" panose="02020603050405020304" pitchFamily="18" charset="0"/>
              </a:rPr>
              <a:t>						Arthroscopy</a:t>
            </a:r>
          </a:p>
          <a:p>
            <a:pPr>
              <a:spcBef>
                <a:spcPct val="50000"/>
              </a:spcBef>
              <a:buClrTx/>
              <a:buFontTx/>
              <a:buNone/>
            </a:pPr>
            <a:r>
              <a:rPr kumimoji="0" lang="en-US" altLang="en-US" sz="2400" dirty="0">
                <a:latin typeface="Times New Roman" panose="02020603050405020304" pitchFamily="18" charset="0"/>
              </a:rPr>
              <a:t>				Heart – Lung machine</a:t>
            </a:r>
          </a:p>
          <a:p>
            <a:pPr>
              <a:spcBef>
                <a:spcPct val="50000"/>
              </a:spcBef>
              <a:buClrTx/>
              <a:buFontTx/>
              <a:buNone/>
            </a:pPr>
            <a:r>
              <a:rPr kumimoji="0" lang="en-US" altLang="en-US" sz="2400" dirty="0">
                <a:latin typeface="Times New Roman" panose="02020603050405020304" pitchFamily="18" charset="0"/>
              </a:rPr>
              <a:t>		 Artificial skin / implant</a:t>
            </a:r>
          </a:p>
          <a:p>
            <a:pPr>
              <a:spcBef>
                <a:spcPct val="50000"/>
              </a:spcBef>
              <a:buClrTx/>
              <a:buFontTx/>
              <a:buNone/>
            </a:pPr>
            <a:r>
              <a:rPr kumimoji="0" lang="en-US" altLang="en-US" sz="2400" dirty="0">
                <a:latin typeface="Times New Roman" panose="02020603050405020304" pitchFamily="18" charset="0"/>
              </a:rPr>
              <a:t>	Kidney dialysis</a:t>
            </a:r>
          </a:p>
          <a:p>
            <a:pPr>
              <a:spcBef>
                <a:spcPct val="50000"/>
              </a:spcBef>
              <a:buClrTx/>
              <a:buFontTx/>
              <a:buNone/>
            </a:pPr>
            <a:r>
              <a:rPr kumimoji="0" lang="en-US" altLang="en-US" sz="2400" dirty="0">
                <a:latin typeface="Times New Roman" panose="02020603050405020304" pitchFamily="18" charset="0"/>
              </a:rPr>
              <a:t>Angioplasty</a:t>
            </a:r>
          </a:p>
        </p:txBody>
      </p:sp>
      <p:sp>
        <p:nvSpPr>
          <p:cNvPr id="7171" name="Text Box 3">
            <a:extLst>
              <a:ext uri="{FF2B5EF4-FFF2-40B4-BE49-F238E27FC236}">
                <a16:creationId xmlns:a16="http://schemas.microsoft.com/office/drawing/2014/main" id="{BF94E089-CD77-9697-F2C5-7462751452D2}"/>
              </a:ext>
            </a:extLst>
          </p:cNvPr>
          <p:cNvSpPr txBox="1">
            <a:spLocks noChangeArrowheads="1"/>
          </p:cNvSpPr>
          <p:nvPr/>
        </p:nvSpPr>
        <p:spPr bwMode="auto">
          <a:xfrm>
            <a:off x="4114800" y="304800"/>
            <a:ext cx="4648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Monotype Sorts" pitchFamily="2" charset="2"/>
              <a:buChar char="z"/>
              <a:defRPr kumimoji="1" sz="3200">
                <a:solidFill>
                  <a:schemeClr val="tx1"/>
                </a:solidFill>
                <a:latin typeface="Tahoma" panose="020B0604030504040204" pitchFamily="34" charset="0"/>
              </a:defRPr>
            </a:lvl1pPr>
            <a:lvl2pPr marL="742950" indent="-285750">
              <a:spcBef>
                <a:spcPct val="20000"/>
              </a:spcBef>
              <a:buClr>
                <a:schemeClr val="accent2"/>
              </a:buClr>
              <a:buFont typeface="Monotype Sorts" pitchFamily="2" charset="2"/>
              <a:buChar char="y"/>
              <a:defRPr kumimoji="1" sz="2800">
                <a:solidFill>
                  <a:schemeClr val="tx1"/>
                </a:solidFill>
                <a:latin typeface="Tahoma" panose="020B0604030504040204" pitchFamily="34" charset="0"/>
              </a:defRPr>
            </a:lvl2pPr>
            <a:lvl3pPr marL="1143000" indent="-228600">
              <a:spcBef>
                <a:spcPct val="20000"/>
              </a:spcBef>
              <a:buClr>
                <a:schemeClr val="accent2"/>
              </a:buClr>
              <a:buFont typeface="Monotype Sorts" pitchFamily="2" charset="2"/>
              <a:buChar char="x"/>
              <a:defRPr kumimoji="1" sz="2400">
                <a:solidFill>
                  <a:schemeClr val="tx1"/>
                </a:solidFill>
                <a:latin typeface="Tahoma" panose="020B0604030504040204" pitchFamily="34" charset="0"/>
              </a:defRPr>
            </a:lvl3pPr>
            <a:lvl4pPr marL="1600200" indent="-228600">
              <a:spcBef>
                <a:spcPct val="20000"/>
              </a:spcBef>
              <a:buClr>
                <a:schemeClr val="accent2"/>
              </a:buClr>
              <a:buChar char="•"/>
              <a:defRPr kumimoji="1" sz="2000">
                <a:solidFill>
                  <a:schemeClr val="tx1"/>
                </a:solidFill>
                <a:latin typeface="Tahoma" panose="020B0604030504040204" pitchFamily="34" charset="0"/>
              </a:defRPr>
            </a:lvl4pPr>
            <a:lvl5pPr marL="2057400" indent="-228600">
              <a:spcBef>
                <a:spcPct val="20000"/>
              </a:spcBef>
              <a:buClr>
                <a:schemeClr val="accent2"/>
              </a:buClr>
              <a:buChar char="–"/>
              <a:defRPr kumimoji="1"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2"/>
              </a:buClr>
              <a:buChar char="–"/>
              <a:defRPr kumimoji="1" sz="2000">
                <a:solidFill>
                  <a:schemeClr val="tx1"/>
                </a:solidFill>
                <a:latin typeface="Tahoma" panose="020B0604030504040204" pitchFamily="34" charset="0"/>
              </a:defRPr>
            </a:lvl9pPr>
          </a:lstStyle>
          <a:p>
            <a:pPr>
              <a:spcBef>
                <a:spcPct val="50000"/>
              </a:spcBef>
              <a:buClrTx/>
              <a:buFontTx/>
              <a:buNone/>
            </a:pPr>
            <a:r>
              <a:rPr kumimoji="0" lang="en-US" altLang="en-US" b="1">
                <a:latin typeface="Georgia" panose="02040502050405020303" pitchFamily="18" charset="0"/>
              </a:rPr>
              <a:t>Recent advances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5851</TotalTime>
  <Words>2122</Words>
  <Application>Microsoft Office PowerPoint</Application>
  <PresentationFormat>On-screen Show (4:3)</PresentationFormat>
  <Paragraphs>134</Paragraphs>
  <Slides>28</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Arial</vt:lpstr>
      <vt:lpstr>Calibri</vt:lpstr>
      <vt:lpstr>Cambria</vt:lpstr>
      <vt:lpstr>Georgia</vt:lpstr>
      <vt:lpstr>Lohit Marathi</vt:lpstr>
      <vt:lpstr>Noto Sans</vt:lpstr>
      <vt:lpstr>Red Hat Display</vt:lpstr>
      <vt:lpstr>Red Hat Text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Krishna Warfade</cp:lastModifiedBy>
  <cp:revision>89</cp:revision>
  <dcterms:created xsi:type="dcterms:W3CDTF">2022-11-13T07:47:42Z</dcterms:created>
  <dcterms:modified xsi:type="dcterms:W3CDTF">2025-01-27T12:46:46Z</dcterms:modified>
</cp:coreProperties>
</file>